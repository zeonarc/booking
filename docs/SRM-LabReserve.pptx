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one-line pitch: SRM LabReserve lets students and researchers request lab rooms and instruments, and lets lab coordinators approve them, with every decision recorded. The campus inventory has 22 rooms. The 37 passing tests are on the last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everyday problems, three answers. Free rooms are visible in the finder and on the dashboard timeline. Conflicts are caught on the server, not just hidden in the interface. Every approval, rejection and cancellation records who did it, when, and why.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six areas. Save My Practical is the distinctive one: a teacher enters the activity, class size and time, and gets ranked alternatives with reasons. Its lab capacities are illustrative demo data, not verified SRM specifications. Student counts are requested headcounts, not attendance.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request is saved as pending and holds its slot straight away. The overlap check and the write happen in one SQLite transaction, so two simultaneous requests cannot both succeed. A booking that starts exactly when another ends is allowed. Approval repeats the check, and cancelling frees the slot while keeping the record.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enforced on the server: hiding a button is not the protection. The 37 tests use real HTTP requests, separate student and coordinator logins, and a temporary SQLite database. One test injects conflicting legacy data on purpose to prove approval rechecks conflicts.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what this is: a working prototype, not a production SRM service. Lab capacities, equipment-to-room links and biotechnology specialization labels still need department confirmation. The next steps are the features that need real campus data or systems: SSO, notifications, timetables and attendance. The code is public on GitHub.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2A4A"/>
        </a:solidFill>
        <a:effectLst/>
      </p:bgPr>
    </p:bg>
    <p:spTree>
      <p:nvGrpSpPr>
        <p:cNvPr id="1" name=""/>
        <p:cNvGrpSpPr/>
        <p:nvPr/>
      </p:nvGrpSpPr>
      <p:grpSpPr/>
      <p:sp>
        <p:nvSpPr>
          <p:cNvPr id="2" name="Title"/>
          <p:cNvSpPr>
            <a:spLocks noGrp="1"/>
          </p:cNvSpPr>
          <p:nvPr>
            <p:ph type="title"/>
          </p:nvPr>
        </p:nvSpPr>
        <p:spPr>
          <a:xfrm>
            <a:off x="731520" y="1371600"/>
            <a:ext cx="6766560" cy="1097280"/>
          </a:xfrm>
        </p:spPr>
        <p:txBody>
          <a:bodyPr wrap="square" lIns="0" rIns="0" tIns="0" bIns="0" anchor="ctr"/>
          <a:lstStyle/>
          <a:p>
            <a:pPr algn="l"/>
            <a:r>
              <a:rPr sz="6000" b="1" i="0">
                <a:solidFill>
                  <a:srgbClr val="FFFFFF"/>
                </a:solidFill>
                <a:latin typeface="Cambria"/>
              </a:rPr>
              <a:t>SRM LabReserve</a:t>
            </a:r>
          </a:p>
        </p:txBody>
      </p:sp>
      <p:sp>
        <p:nvSpPr>
          <p:cNvPr id="3" name="Eyebrow"/>
          <p:cNvSpPr txBox="1"/>
          <p:nvPr/>
        </p:nvSpPr>
        <p:spPr>
          <a:xfrm>
            <a:off x="731520" y="822960"/>
            <a:ext cx="6766560" cy="320040"/>
          </a:xfrm>
          <a:prstGeom prst="rect">
            <a:avLst/>
          </a:prstGeom>
          <a:noFill/>
        </p:spPr>
        <p:txBody>
          <a:bodyPr wrap="square" lIns="0" rIns="0" tIns="0" bIns="0" anchor="t">
            <a:spAutoFit/>
          </a:bodyPr>
          <a:lstStyle/>
          <a:p>
            <a:pPr algn="l"/>
            <a:r>
              <a:rPr sz="1300" b="1" i="0" spc="150">
                <a:solidFill>
                  <a:srgbClr val="E3B44C"/>
                </a:solidFill>
                <a:latin typeface="Calibri"/>
              </a:rPr>
              <a:t>SRM INSTITUTE OF SCIENCE AND TECHNOLOGY · TRICHY</a:t>
            </a:r>
          </a:p>
        </p:txBody>
      </p:sp>
      <p:sp>
        <p:nvSpPr>
          <p:cNvPr id="4" name="Subtitle"/>
          <p:cNvSpPr txBox="1"/>
          <p:nvPr/>
        </p:nvSpPr>
        <p:spPr>
          <a:xfrm>
            <a:off x="731520" y="2697480"/>
            <a:ext cx="6309360" cy="1280160"/>
          </a:xfrm>
          <a:prstGeom prst="rect">
            <a:avLst/>
          </a:prstGeom>
          <a:noFill/>
        </p:spPr>
        <p:txBody>
          <a:bodyPr wrap="square" lIns="0" rIns="0" tIns="0" bIns="0" anchor="t">
            <a:spAutoFit/>
          </a:bodyPr>
          <a:lstStyle/>
          <a:p>
            <a:pPr algn="l"/>
            <a:r>
              <a:rPr sz="2400" b="0" i="0">
                <a:solidFill>
                  <a:srgbClr val="CADCFC"/>
                </a:solidFill>
                <a:latin typeface="Calibri"/>
              </a:rPr>
              <a:t>Lab room and equipment booking with coordinator approval and a permanent audit trail</a:t>
            </a:r>
          </a:p>
        </p:txBody>
      </p:sp>
      <p:sp>
        <p:nvSpPr>
          <p:cNvPr id="5" name="Presenter"/>
          <p:cNvSpPr txBox="1"/>
          <p:nvPr/>
        </p:nvSpPr>
        <p:spPr>
          <a:xfrm>
            <a:off x="731520" y="5486400"/>
            <a:ext cx="5943600" cy="822960"/>
          </a:xfrm>
          <a:prstGeom prst="rect">
            <a:avLst/>
          </a:prstGeom>
          <a:noFill/>
        </p:spPr>
        <p:txBody>
          <a:bodyPr wrap="square" lIns="0" rIns="0" tIns="0" bIns="0" anchor="t">
            <a:spAutoFit/>
          </a:bodyPr>
          <a:lstStyle/>
          <a:p>
            <a:pPr algn="l"/>
            <a:r>
              <a:rPr sz="1800" b="1" i="0">
                <a:solidFill>
                  <a:srgbClr val="FFFFFF"/>
                </a:solidFill>
                <a:latin typeface="Calibri"/>
              </a:rPr>
              <a:t>Harish V</a:t>
            </a:r>
          </a:p>
          <a:p>
            <a:pPr algn="l"/>
            <a:r>
              <a:rPr sz="1400" b="0" i="0">
                <a:solidFill>
                  <a:srgbClr val="CADCFC"/>
                </a:solidFill>
                <a:latin typeface="Calibri"/>
              </a:rPr>
              <a:t>Academic prototype · React, Express and SQLite</a:t>
            </a:r>
          </a:p>
        </p:txBody>
      </p:sp>
      <p:sp>
        <p:nvSpPr>
          <p:cNvPr id="6" name="Stat card 1"/>
          <p:cNvSpPr/>
          <p:nvPr/>
        </p:nvSpPr>
        <p:spPr>
          <a:xfrm>
            <a:off x="7863840" y="822960"/>
            <a:ext cx="3593592" cy="1508760"/>
          </a:xfrm>
          <a:prstGeom prst="roundRect">
            <a:avLst>
              <a:gd name="adj" fmla="val 8000"/>
            </a:avLst>
          </a:prstGeom>
          <a:solidFill>
            <a:srgbClr val="123A66"/>
          </a:solidFill>
          <a:ln>
            <a:noFill/>
          </a:ln>
        </p:spPr>
        <p:txBody>
          <a:bodyPr rtlCol="0" anchor="ctr"/>
          <a:lstStyle/>
          <a:p>
            <a:pPr algn="ctr"/>
          </a:p>
        </p:txBody>
      </p:sp>
      <p:sp>
        <p:nvSpPr>
          <p:cNvPr id="7" name="Stat number 1"/>
          <p:cNvSpPr txBox="1"/>
          <p:nvPr/>
        </p:nvSpPr>
        <p:spPr>
          <a:xfrm>
            <a:off x="8183879" y="960120"/>
            <a:ext cx="3017520" cy="868680"/>
          </a:xfrm>
          <a:prstGeom prst="rect">
            <a:avLst/>
          </a:prstGeom>
          <a:noFill/>
        </p:spPr>
        <p:txBody>
          <a:bodyPr wrap="square" lIns="0" rIns="0" tIns="0" bIns="0" anchor="ctr">
            <a:spAutoFit/>
          </a:bodyPr>
          <a:lstStyle/>
          <a:p>
            <a:pPr algn="l"/>
            <a:r>
              <a:rPr sz="5400" b="1" i="0">
                <a:solidFill>
                  <a:srgbClr val="E3B44C"/>
                </a:solidFill>
                <a:latin typeface="Cambria"/>
              </a:rPr>
              <a:t>22</a:t>
            </a:r>
          </a:p>
        </p:txBody>
      </p:sp>
      <p:sp>
        <p:nvSpPr>
          <p:cNvPr id="8" name="Stat label 1"/>
          <p:cNvSpPr txBox="1"/>
          <p:nvPr/>
        </p:nvSpPr>
        <p:spPr>
          <a:xfrm>
            <a:off x="8183879" y="1783080"/>
            <a:ext cx="3017520" cy="411480"/>
          </a:xfrm>
          <a:prstGeom prst="rect">
            <a:avLst/>
          </a:prstGeom>
          <a:noFill/>
        </p:spPr>
        <p:txBody>
          <a:bodyPr wrap="square" lIns="0" rIns="0" tIns="0" bIns="0" anchor="t">
            <a:spAutoFit/>
          </a:bodyPr>
          <a:lstStyle/>
          <a:p>
            <a:pPr algn="l"/>
            <a:r>
              <a:rPr sz="1400" b="0" i="0">
                <a:solidFill>
                  <a:srgbClr val="FFFFFF"/>
                </a:solidFill>
                <a:latin typeface="Calibri"/>
              </a:rPr>
              <a:t>campus labs and workshops you can book</a:t>
            </a:r>
          </a:p>
        </p:txBody>
      </p:sp>
      <p:sp>
        <p:nvSpPr>
          <p:cNvPr id="9" name="Stat card 2"/>
          <p:cNvSpPr/>
          <p:nvPr/>
        </p:nvSpPr>
        <p:spPr>
          <a:xfrm>
            <a:off x="7863840" y="2606040"/>
            <a:ext cx="3593592" cy="1508760"/>
          </a:xfrm>
          <a:prstGeom prst="roundRect">
            <a:avLst>
              <a:gd name="adj" fmla="val 8000"/>
            </a:avLst>
          </a:prstGeom>
          <a:solidFill>
            <a:srgbClr val="123A66"/>
          </a:solidFill>
          <a:ln>
            <a:noFill/>
          </a:ln>
        </p:spPr>
        <p:txBody>
          <a:bodyPr rtlCol="0" anchor="ctr"/>
          <a:lstStyle/>
          <a:p>
            <a:pPr algn="ctr"/>
          </a:p>
        </p:txBody>
      </p:sp>
      <p:sp>
        <p:nvSpPr>
          <p:cNvPr id="10" name="Stat number 2"/>
          <p:cNvSpPr txBox="1"/>
          <p:nvPr/>
        </p:nvSpPr>
        <p:spPr>
          <a:xfrm>
            <a:off x="8183879" y="2743200"/>
            <a:ext cx="3017520" cy="868680"/>
          </a:xfrm>
          <a:prstGeom prst="rect">
            <a:avLst/>
          </a:prstGeom>
          <a:noFill/>
        </p:spPr>
        <p:txBody>
          <a:bodyPr wrap="square" lIns="0" rIns="0" tIns="0" bIns="0" anchor="ctr">
            <a:spAutoFit/>
          </a:bodyPr>
          <a:lstStyle/>
          <a:p>
            <a:pPr algn="l"/>
            <a:r>
              <a:rPr sz="5400" b="1" i="0">
                <a:solidFill>
                  <a:srgbClr val="E3B44C"/>
                </a:solidFill>
                <a:latin typeface="Cambria"/>
              </a:rPr>
              <a:t>2</a:t>
            </a:r>
          </a:p>
        </p:txBody>
      </p:sp>
      <p:sp>
        <p:nvSpPr>
          <p:cNvPr id="11" name="Stat label 2"/>
          <p:cNvSpPr txBox="1"/>
          <p:nvPr/>
        </p:nvSpPr>
        <p:spPr>
          <a:xfrm>
            <a:off x="8183879" y="3566160"/>
            <a:ext cx="3017520" cy="411480"/>
          </a:xfrm>
          <a:prstGeom prst="rect">
            <a:avLst/>
          </a:prstGeom>
          <a:noFill/>
        </p:spPr>
        <p:txBody>
          <a:bodyPr wrap="square" lIns="0" rIns="0" tIns="0" bIns="0" anchor="t">
            <a:spAutoFit/>
          </a:bodyPr>
          <a:lstStyle/>
          <a:p>
            <a:pPr algn="l"/>
            <a:r>
              <a:rPr sz="1400" b="0" i="0">
                <a:solidFill>
                  <a:srgbClr val="FFFFFF"/>
                </a:solidFill>
                <a:latin typeface="Calibri"/>
              </a:rPr>
              <a:t>roles: student and lab coordinator</a:t>
            </a:r>
          </a:p>
        </p:txBody>
      </p:sp>
      <p:sp>
        <p:nvSpPr>
          <p:cNvPr id="12" name="Stat card 3"/>
          <p:cNvSpPr/>
          <p:nvPr/>
        </p:nvSpPr>
        <p:spPr>
          <a:xfrm>
            <a:off x="7863840" y="4389120"/>
            <a:ext cx="3593592" cy="1508760"/>
          </a:xfrm>
          <a:prstGeom prst="roundRect">
            <a:avLst>
              <a:gd name="adj" fmla="val 8000"/>
            </a:avLst>
          </a:prstGeom>
          <a:solidFill>
            <a:srgbClr val="123A66"/>
          </a:solidFill>
          <a:ln>
            <a:noFill/>
          </a:ln>
        </p:spPr>
        <p:txBody>
          <a:bodyPr rtlCol="0" anchor="ctr"/>
          <a:lstStyle/>
          <a:p>
            <a:pPr algn="ctr"/>
          </a:p>
        </p:txBody>
      </p:sp>
      <p:sp>
        <p:nvSpPr>
          <p:cNvPr id="13" name="Stat number 3"/>
          <p:cNvSpPr txBox="1"/>
          <p:nvPr/>
        </p:nvSpPr>
        <p:spPr>
          <a:xfrm>
            <a:off x="8183879" y="4526280"/>
            <a:ext cx="3017520" cy="868680"/>
          </a:xfrm>
          <a:prstGeom prst="rect">
            <a:avLst/>
          </a:prstGeom>
          <a:noFill/>
        </p:spPr>
        <p:txBody>
          <a:bodyPr wrap="square" lIns="0" rIns="0" tIns="0" bIns="0" anchor="ctr">
            <a:spAutoFit/>
          </a:bodyPr>
          <a:lstStyle/>
          <a:p>
            <a:pPr algn="l"/>
            <a:r>
              <a:rPr sz="5400" b="1" i="0">
                <a:solidFill>
                  <a:srgbClr val="E3B44C"/>
                </a:solidFill>
                <a:latin typeface="Cambria"/>
              </a:rPr>
              <a:t>37</a:t>
            </a:r>
          </a:p>
        </p:txBody>
      </p:sp>
      <p:sp>
        <p:nvSpPr>
          <p:cNvPr id="14" name="Stat label 3"/>
          <p:cNvSpPr txBox="1"/>
          <p:nvPr/>
        </p:nvSpPr>
        <p:spPr>
          <a:xfrm>
            <a:off x="8183879" y="5349240"/>
            <a:ext cx="3017520" cy="411480"/>
          </a:xfrm>
          <a:prstGeom prst="rect">
            <a:avLst/>
          </a:prstGeom>
          <a:noFill/>
        </p:spPr>
        <p:txBody>
          <a:bodyPr wrap="square" lIns="0" rIns="0" tIns="0" bIns="0" anchor="t">
            <a:spAutoFit/>
          </a:bodyPr>
          <a:lstStyle/>
          <a:p>
            <a:pPr algn="l"/>
            <a:r>
              <a:rPr sz="1400" b="0" i="0">
                <a:solidFill>
                  <a:srgbClr val="FFFFFF"/>
                </a:solidFill>
                <a:latin typeface="Calibri"/>
              </a:rPr>
              <a:t>automated tests, all passing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731520" y="457200"/>
            <a:ext cx="10698480" cy="822960"/>
          </a:xfrm>
        </p:spPr>
        <p:txBody>
          <a:bodyPr wrap="square" lIns="0" rIns="0" tIns="0" bIns="0" anchor="ctr"/>
          <a:lstStyle/>
          <a:p>
            <a:pPr algn="l"/>
            <a:r>
              <a:rPr sz="3400" b="1" i="0">
                <a:solidFill>
                  <a:srgbClr val="0A2A4A"/>
                </a:solidFill>
                <a:latin typeface="Cambria"/>
              </a:rPr>
              <a:t>From booking chaos to one clear workflow</a:t>
            </a:r>
          </a:p>
        </p:txBody>
      </p:sp>
      <p:sp>
        <p:nvSpPr>
          <p:cNvPr id="3" name="Problem card 1"/>
          <p:cNvSpPr/>
          <p:nvPr/>
        </p:nvSpPr>
        <p:spPr>
          <a:xfrm>
            <a:off x="731520" y="1691640"/>
            <a:ext cx="4754880" cy="1325880"/>
          </a:xfrm>
          <a:prstGeom prst="roundRect">
            <a:avLst>
              <a:gd name="adj" fmla="val 7000"/>
            </a:avLst>
          </a:prstGeom>
          <a:solidFill>
            <a:srgbClr val="EEF3FA"/>
          </a:solidFill>
          <a:ln>
            <a:noFill/>
          </a:ln>
        </p:spPr>
        <p:txBody>
          <a:bodyPr rtlCol="0" anchor="ctr"/>
          <a:lstStyle/>
          <a:p>
            <a:pPr algn="ctr"/>
          </a:p>
        </p:txBody>
      </p:sp>
      <p:sp>
        <p:nvSpPr>
          <p:cNvPr id="4" name="Problem 1"/>
          <p:cNvSpPr txBox="1"/>
          <p:nvPr/>
        </p:nvSpPr>
        <p:spPr>
          <a:xfrm>
            <a:off x="1005840" y="1856232"/>
            <a:ext cx="4206240" cy="1005840"/>
          </a:xfrm>
          <a:prstGeom prst="rect">
            <a:avLst/>
          </a:prstGeom>
          <a:noFill/>
        </p:spPr>
        <p:txBody>
          <a:bodyPr wrap="square" lIns="0" rIns="0" tIns="0" bIns="0" anchor="t">
            <a:spAutoFit/>
          </a:bodyPr>
          <a:lstStyle/>
          <a:p>
            <a:pPr algn="l">
              <a:spcAft>
                <a:spcPts val="300"/>
              </a:spcAft>
            </a:pPr>
            <a:r>
              <a:rPr sz="1100" b="1" i="0" spc="120">
                <a:solidFill>
                  <a:srgbClr val="5A7088"/>
                </a:solidFill>
                <a:latin typeface="Calibri"/>
              </a:rPr>
              <a:t>THE PROBLEM</a:t>
            </a:r>
          </a:p>
          <a:p>
            <a:pPr algn="l"/>
            <a:r>
              <a:rPr sz="2000" b="1" i="0">
                <a:solidFill>
                  <a:srgbClr val="1B3550"/>
                </a:solidFill>
                <a:latin typeface="Calibri"/>
              </a:rPr>
              <a:t>Nobody can see which lab is free</a:t>
            </a:r>
          </a:p>
        </p:txBody>
      </p:sp>
      <p:sp>
        <p:nvSpPr>
          <p:cNvPr id="5" name="Arrow 1"/>
          <p:cNvSpPr/>
          <p:nvPr/>
        </p:nvSpPr>
        <p:spPr>
          <a:xfrm>
            <a:off x="5669280" y="2148840"/>
            <a:ext cx="502920" cy="411480"/>
          </a:xfrm>
          <a:prstGeom prst="rightArrow">
            <a:avLst/>
          </a:prstGeom>
          <a:solidFill>
            <a:srgbClr val="E3B44C"/>
          </a:solidFill>
          <a:ln>
            <a:noFill/>
          </a:ln>
        </p:spPr>
        <p:txBody>
          <a:bodyPr rtlCol="0" anchor="ctr"/>
          <a:lstStyle/>
          <a:p>
            <a:pPr algn="ctr"/>
          </a:p>
        </p:txBody>
      </p:sp>
      <p:sp>
        <p:nvSpPr>
          <p:cNvPr id="6" name="Solution card 1"/>
          <p:cNvSpPr/>
          <p:nvPr/>
        </p:nvSpPr>
        <p:spPr>
          <a:xfrm>
            <a:off x="6355080" y="1691640"/>
            <a:ext cx="5102352" cy="1325880"/>
          </a:xfrm>
          <a:prstGeom prst="roundRect">
            <a:avLst>
              <a:gd name="adj" fmla="val 7000"/>
            </a:avLst>
          </a:prstGeom>
          <a:solidFill>
            <a:srgbClr val="005596"/>
          </a:solidFill>
          <a:ln>
            <a:noFill/>
          </a:ln>
        </p:spPr>
        <p:txBody>
          <a:bodyPr rtlCol="0" anchor="ctr"/>
          <a:lstStyle/>
          <a:p>
            <a:pPr algn="ctr"/>
          </a:p>
        </p:txBody>
      </p:sp>
      <p:sp>
        <p:nvSpPr>
          <p:cNvPr id="7" name="Solution 1"/>
          <p:cNvSpPr txBox="1"/>
          <p:nvPr/>
        </p:nvSpPr>
        <p:spPr>
          <a:xfrm>
            <a:off x="6629400" y="1856232"/>
            <a:ext cx="4572000" cy="1005840"/>
          </a:xfrm>
          <a:prstGeom prst="rect">
            <a:avLst/>
          </a:prstGeom>
          <a:noFill/>
        </p:spPr>
        <p:txBody>
          <a:bodyPr wrap="square" lIns="0" rIns="0" tIns="0" bIns="0" anchor="t">
            <a:spAutoFit/>
          </a:bodyPr>
          <a:lstStyle/>
          <a:p>
            <a:pPr algn="l">
              <a:spcAft>
                <a:spcPts val="300"/>
              </a:spcAft>
            </a:pPr>
            <a:r>
              <a:rPr sz="1100" b="1" i="0" spc="120">
                <a:solidFill>
                  <a:srgbClr val="CADCFC"/>
                </a:solidFill>
                <a:latin typeface="Calibri"/>
              </a:rPr>
              <a:t>WHAT LABRESERVE DOES</a:t>
            </a:r>
          </a:p>
          <a:p>
            <a:pPr algn="l"/>
            <a:r>
              <a:rPr sz="1800" b="1" i="0">
                <a:solidFill>
                  <a:srgbClr val="FFFFFF"/>
                </a:solidFill>
                <a:latin typeface="Calibri"/>
              </a:rPr>
              <a:t>A free-room finder and a live timeline cover all 22 rooms</a:t>
            </a:r>
          </a:p>
        </p:txBody>
      </p:sp>
      <p:sp>
        <p:nvSpPr>
          <p:cNvPr id="8" name="Problem card 2"/>
          <p:cNvSpPr/>
          <p:nvPr/>
        </p:nvSpPr>
        <p:spPr>
          <a:xfrm>
            <a:off x="731520" y="3246120"/>
            <a:ext cx="4754880" cy="1325880"/>
          </a:xfrm>
          <a:prstGeom prst="roundRect">
            <a:avLst>
              <a:gd name="adj" fmla="val 7000"/>
            </a:avLst>
          </a:prstGeom>
          <a:solidFill>
            <a:srgbClr val="EEF3FA"/>
          </a:solidFill>
          <a:ln>
            <a:noFill/>
          </a:ln>
        </p:spPr>
        <p:txBody>
          <a:bodyPr rtlCol="0" anchor="ctr"/>
          <a:lstStyle/>
          <a:p>
            <a:pPr algn="ctr"/>
          </a:p>
        </p:txBody>
      </p:sp>
      <p:sp>
        <p:nvSpPr>
          <p:cNvPr id="9" name="Problem 2"/>
          <p:cNvSpPr txBox="1"/>
          <p:nvPr/>
        </p:nvSpPr>
        <p:spPr>
          <a:xfrm>
            <a:off x="1005840" y="3410712"/>
            <a:ext cx="4206240" cy="1005840"/>
          </a:xfrm>
          <a:prstGeom prst="rect">
            <a:avLst/>
          </a:prstGeom>
          <a:noFill/>
        </p:spPr>
        <p:txBody>
          <a:bodyPr wrap="square" lIns="0" rIns="0" tIns="0" bIns="0" anchor="t">
            <a:spAutoFit/>
          </a:bodyPr>
          <a:lstStyle/>
          <a:p>
            <a:pPr algn="l">
              <a:spcAft>
                <a:spcPts val="300"/>
              </a:spcAft>
            </a:pPr>
            <a:r>
              <a:rPr sz="1100" b="1" i="0" spc="120">
                <a:solidFill>
                  <a:srgbClr val="5A7088"/>
                </a:solidFill>
                <a:latin typeface="Calibri"/>
              </a:rPr>
              <a:t>THE PROBLEM</a:t>
            </a:r>
          </a:p>
          <a:p>
            <a:pPr algn="l"/>
            <a:r>
              <a:rPr sz="2000" b="1" i="0">
                <a:solidFill>
                  <a:srgbClr val="1B3550"/>
                </a:solidFill>
                <a:latin typeface="Calibri"/>
              </a:rPr>
              <a:t>Two groups ask for the same lab at the same time</a:t>
            </a:r>
          </a:p>
        </p:txBody>
      </p:sp>
      <p:sp>
        <p:nvSpPr>
          <p:cNvPr id="10" name="Arrow 2"/>
          <p:cNvSpPr/>
          <p:nvPr/>
        </p:nvSpPr>
        <p:spPr>
          <a:xfrm>
            <a:off x="5669280" y="3703320"/>
            <a:ext cx="502920" cy="411480"/>
          </a:xfrm>
          <a:prstGeom prst="rightArrow">
            <a:avLst/>
          </a:prstGeom>
          <a:solidFill>
            <a:srgbClr val="E3B44C"/>
          </a:solidFill>
          <a:ln>
            <a:noFill/>
          </a:ln>
        </p:spPr>
        <p:txBody>
          <a:bodyPr rtlCol="0" anchor="ctr"/>
          <a:lstStyle/>
          <a:p>
            <a:pPr algn="ctr"/>
          </a:p>
        </p:txBody>
      </p:sp>
      <p:sp>
        <p:nvSpPr>
          <p:cNvPr id="11" name="Solution card 2"/>
          <p:cNvSpPr/>
          <p:nvPr/>
        </p:nvSpPr>
        <p:spPr>
          <a:xfrm>
            <a:off x="6355080" y="3246120"/>
            <a:ext cx="5102352" cy="1325880"/>
          </a:xfrm>
          <a:prstGeom prst="roundRect">
            <a:avLst>
              <a:gd name="adj" fmla="val 7000"/>
            </a:avLst>
          </a:prstGeom>
          <a:solidFill>
            <a:srgbClr val="005596"/>
          </a:solidFill>
          <a:ln>
            <a:noFill/>
          </a:ln>
        </p:spPr>
        <p:txBody>
          <a:bodyPr rtlCol="0" anchor="ctr"/>
          <a:lstStyle/>
          <a:p>
            <a:pPr algn="ctr"/>
          </a:p>
        </p:txBody>
      </p:sp>
      <p:sp>
        <p:nvSpPr>
          <p:cNvPr id="12" name="Solution 2"/>
          <p:cNvSpPr txBox="1"/>
          <p:nvPr/>
        </p:nvSpPr>
        <p:spPr>
          <a:xfrm>
            <a:off x="6629400" y="3410712"/>
            <a:ext cx="4572000" cy="1005840"/>
          </a:xfrm>
          <a:prstGeom prst="rect">
            <a:avLst/>
          </a:prstGeom>
          <a:noFill/>
        </p:spPr>
        <p:txBody>
          <a:bodyPr wrap="square" lIns="0" rIns="0" tIns="0" bIns="0" anchor="t">
            <a:spAutoFit/>
          </a:bodyPr>
          <a:lstStyle/>
          <a:p>
            <a:pPr algn="l">
              <a:spcAft>
                <a:spcPts val="300"/>
              </a:spcAft>
            </a:pPr>
            <a:r>
              <a:rPr sz="1100" b="1" i="0" spc="120">
                <a:solidFill>
                  <a:srgbClr val="CADCFC"/>
                </a:solidFill>
                <a:latin typeface="Calibri"/>
              </a:rPr>
              <a:t>WHAT LABRESERVE DOES</a:t>
            </a:r>
          </a:p>
          <a:p>
            <a:pPr algn="l"/>
            <a:r>
              <a:rPr sz="1800" b="1" i="0">
                <a:solidFill>
                  <a:srgbClr val="FFFFFF"/>
                </a:solidFill>
                <a:latin typeface="Calibri"/>
              </a:rPr>
              <a:t>The server rejects overlaps, while back-to-back sessions are allowed</a:t>
            </a:r>
          </a:p>
        </p:txBody>
      </p:sp>
      <p:sp>
        <p:nvSpPr>
          <p:cNvPr id="13" name="Problem card 3"/>
          <p:cNvSpPr/>
          <p:nvPr/>
        </p:nvSpPr>
        <p:spPr>
          <a:xfrm>
            <a:off x="731520" y="4800600"/>
            <a:ext cx="4754880" cy="1325880"/>
          </a:xfrm>
          <a:prstGeom prst="roundRect">
            <a:avLst>
              <a:gd name="adj" fmla="val 7000"/>
            </a:avLst>
          </a:prstGeom>
          <a:solidFill>
            <a:srgbClr val="EEF3FA"/>
          </a:solidFill>
          <a:ln>
            <a:noFill/>
          </a:ln>
        </p:spPr>
        <p:txBody>
          <a:bodyPr rtlCol="0" anchor="ctr"/>
          <a:lstStyle/>
          <a:p>
            <a:pPr algn="ctr"/>
          </a:p>
        </p:txBody>
      </p:sp>
      <p:sp>
        <p:nvSpPr>
          <p:cNvPr id="14" name="Problem 3"/>
          <p:cNvSpPr txBox="1"/>
          <p:nvPr/>
        </p:nvSpPr>
        <p:spPr>
          <a:xfrm>
            <a:off x="1005840" y="4965192"/>
            <a:ext cx="4206240" cy="1005840"/>
          </a:xfrm>
          <a:prstGeom prst="rect">
            <a:avLst/>
          </a:prstGeom>
          <a:noFill/>
        </p:spPr>
        <p:txBody>
          <a:bodyPr wrap="square" lIns="0" rIns="0" tIns="0" bIns="0" anchor="t">
            <a:spAutoFit/>
          </a:bodyPr>
          <a:lstStyle/>
          <a:p>
            <a:pPr algn="l">
              <a:spcAft>
                <a:spcPts val="300"/>
              </a:spcAft>
            </a:pPr>
            <a:r>
              <a:rPr sz="1100" b="1" i="0" spc="120">
                <a:solidFill>
                  <a:srgbClr val="5A7088"/>
                </a:solidFill>
                <a:latin typeface="Calibri"/>
              </a:rPr>
              <a:t>THE PROBLEM</a:t>
            </a:r>
          </a:p>
          <a:p>
            <a:pPr algn="l"/>
            <a:r>
              <a:rPr sz="2000" b="1" i="0">
                <a:solidFill>
                  <a:srgbClr val="1B3550"/>
                </a:solidFill>
                <a:latin typeface="Calibri"/>
              </a:rPr>
              <a:t>Approvals and cancellations are hard to trace</a:t>
            </a:r>
          </a:p>
        </p:txBody>
      </p:sp>
      <p:sp>
        <p:nvSpPr>
          <p:cNvPr id="15" name="Arrow 3"/>
          <p:cNvSpPr/>
          <p:nvPr/>
        </p:nvSpPr>
        <p:spPr>
          <a:xfrm>
            <a:off x="5669280" y="5257800"/>
            <a:ext cx="502920" cy="411480"/>
          </a:xfrm>
          <a:prstGeom prst="rightArrow">
            <a:avLst/>
          </a:prstGeom>
          <a:solidFill>
            <a:srgbClr val="E3B44C"/>
          </a:solidFill>
          <a:ln>
            <a:noFill/>
          </a:ln>
        </p:spPr>
        <p:txBody>
          <a:bodyPr rtlCol="0" anchor="ctr"/>
          <a:lstStyle/>
          <a:p>
            <a:pPr algn="ctr"/>
          </a:p>
        </p:txBody>
      </p:sp>
      <p:sp>
        <p:nvSpPr>
          <p:cNvPr id="16" name="Solution card 3"/>
          <p:cNvSpPr/>
          <p:nvPr/>
        </p:nvSpPr>
        <p:spPr>
          <a:xfrm>
            <a:off x="6355080" y="4800600"/>
            <a:ext cx="5102352" cy="1325880"/>
          </a:xfrm>
          <a:prstGeom prst="roundRect">
            <a:avLst>
              <a:gd name="adj" fmla="val 7000"/>
            </a:avLst>
          </a:prstGeom>
          <a:solidFill>
            <a:srgbClr val="005596"/>
          </a:solidFill>
          <a:ln>
            <a:noFill/>
          </a:ln>
        </p:spPr>
        <p:txBody>
          <a:bodyPr rtlCol="0" anchor="ctr"/>
          <a:lstStyle/>
          <a:p>
            <a:pPr algn="ctr"/>
          </a:p>
        </p:txBody>
      </p:sp>
      <p:sp>
        <p:nvSpPr>
          <p:cNvPr id="17" name="Solution 3"/>
          <p:cNvSpPr txBox="1"/>
          <p:nvPr/>
        </p:nvSpPr>
        <p:spPr>
          <a:xfrm>
            <a:off x="6629400" y="4965192"/>
            <a:ext cx="4572000" cy="1005840"/>
          </a:xfrm>
          <a:prstGeom prst="rect">
            <a:avLst/>
          </a:prstGeom>
          <a:noFill/>
        </p:spPr>
        <p:txBody>
          <a:bodyPr wrap="square" lIns="0" rIns="0" tIns="0" bIns="0" anchor="t">
            <a:spAutoFit/>
          </a:bodyPr>
          <a:lstStyle/>
          <a:p>
            <a:pPr algn="l">
              <a:spcAft>
                <a:spcPts val="300"/>
              </a:spcAft>
            </a:pPr>
            <a:r>
              <a:rPr sz="1100" b="1" i="0" spc="120">
                <a:solidFill>
                  <a:srgbClr val="CADCFC"/>
                </a:solidFill>
                <a:latin typeface="Calibri"/>
              </a:rPr>
              <a:t>WHAT LABRESERVE DOES</a:t>
            </a:r>
          </a:p>
          <a:p>
            <a:pPr algn="l"/>
            <a:r>
              <a:rPr sz="1800" b="1" i="0">
                <a:solidFill>
                  <a:srgbClr val="FFFFFF"/>
                </a:solidFill>
                <a:latin typeface="Calibri"/>
              </a:rPr>
              <a:t>Coordinators approve or reject with reasons, and every action is logged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731520" y="457200"/>
            <a:ext cx="10698480" cy="822960"/>
          </a:xfrm>
        </p:spPr>
        <p:txBody>
          <a:bodyPr wrap="square" lIns="0" rIns="0" tIns="0" bIns="0" anchor="ctr"/>
          <a:lstStyle/>
          <a:p>
            <a:pPr algn="l"/>
            <a:r>
              <a:rPr sz="3400" b="1" i="0">
                <a:solidFill>
                  <a:srgbClr val="0A2A4A"/>
                </a:solidFill>
                <a:latin typeface="Cambria"/>
              </a:rPr>
              <a:t>What students and coordinators can do</a:t>
            </a:r>
          </a:p>
        </p:txBody>
      </p:sp>
      <p:sp>
        <p:nvSpPr>
          <p:cNvPr id="3" name="Feature card 1"/>
          <p:cNvSpPr/>
          <p:nvPr/>
        </p:nvSpPr>
        <p:spPr>
          <a:xfrm>
            <a:off x="731520" y="1600200"/>
            <a:ext cx="3291840" cy="1417320"/>
          </a:xfrm>
          <a:prstGeom prst="roundRect">
            <a:avLst>
              <a:gd name="adj" fmla="val 7000"/>
            </a:avLst>
          </a:prstGeom>
          <a:solidFill>
            <a:srgbClr val="EEF3FA"/>
          </a:solidFill>
          <a:ln>
            <a:noFill/>
          </a:ln>
        </p:spPr>
        <p:txBody>
          <a:bodyPr rtlCol="0" anchor="ctr"/>
          <a:lstStyle/>
          <a:p>
            <a:pPr algn="ctr"/>
          </a:p>
        </p:txBody>
      </p:sp>
      <p:sp>
        <p:nvSpPr>
          <p:cNvPr id="4" name="Feature 1"/>
          <p:cNvSpPr txBox="1"/>
          <p:nvPr/>
        </p:nvSpPr>
        <p:spPr>
          <a:xfrm>
            <a:off x="932688" y="1737360"/>
            <a:ext cx="2889504" cy="1188720"/>
          </a:xfrm>
          <a:prstGeom prst="rect">
            <a:avLst/>
          </a:prstGeom>
          <a:noFill/>
        </p:spPr>
        <p:txBody>
          <a:bodyPr wrap="square" lIns="0" rIns="0" tIns="0" bIns="0" anchor="t">
            <a:spAutoFit/>
          </a:bodyPr>
          <a:lstStyle/>
          <a:p>
            <a:pPr algn="l">
              <a:spcAft>
                <a:spcPts val="200"/>
              </a:spcAft>
            </a:pPr>
            <a:r>
              <a:rPr sz="1100" b="1" i="0" spc="150">
                <a:solidFill>
                  <a:srgbClr val="005596"/>
                </a:solidFill>
                <a:latin typeface="Calibri"/>
              </a:rPr>
              <a:t>BOOK</a:t>
            </a:r>
          </a:p>
          <a:p>
            <a:pPr algn="l">
              <a:spcAft>
                <a:spcPts val="300"/>
              </a:spcAft>
            </a:pPr>
            <a:r>
              <a:rPr sz="1800" b="1" i="0">
                <a:solidFill>
                  <a:srgbClr val="1B3550"/>
                </a:solidFill>
                <a:latin typeface="Cambria"/>
              </a:rPr>
              <a:t>Rooms and equipment</a:t>
            </a:r>
          </a:p>
          <a:p>
            <a:pPr algn="l"/>
            <a:r>
              <a:rPr sz="1400" b="0" i="0">
                <a:solidFill>
                  <a:srgbClr val="5A7088"/>
                </a:solidFill>
                <a:latin typeface="Calibri"/>
              </a:rPr>
              <a:t>22 campus labs plus demo instruments, with a required reason</a:t>
            </a:r>
          </a:p>
        </p:txBody>
      </p:sp>
      <p:sp>
        <p:nvSpPr>
          <p:cNvPr id="5" name="Feature card 2"/>
          <p:cNvSpPr/>
          <p:nvPr/>
        </p:nvSpPr>
        <p:spPr>
          <a:xfrm>
            <a:off x="4251960" y="1600200"/>
            <a:ext cx="3291840" cy="1417320"/>
          </a:xfrm>
          <a:prstGeom prst="roundRect">
            <a:avLst>
              <a:gd name="adj" fmla="val 7000"/>
            </a:avLst>
          </a:prstGeom>
          <a:solidFill>
            <a:srgbClr val="EEF3FA"/>
          </a:solidFill>
          <a:ln>
            <a:noFill/>
          </a:ln>
        </p:spPr>
        <p:txBody>
          <a:bodyPr rtlCol="0" anchor="ctr"/>
          <a:lstStyle/>
          <a:p>
            <a:pPr algn="ctr"/>
          </a:p>
        </p:txBody>
      </p:sp>
      <p:sp>
        <p:nvSpPr>
          <p:cNvPr id="6" name="Feature 2"/>
          <p:cNvSpPr txBox="1"/>
          <p:nvPr/>
        </p:nvSpPr>
        <p:spPr>
          <a:xfrm>
            <a:off x="4453128" y="1737360"/>
            <a:ext cx="2889504" cy="1188720"/>
          </a:xfrm>
          <a:prstGeom prst="rect">
            <a:avLst/>
          </a:prstGeom>
          <a:noFill/>
        </p:spPr>
        <p:txBody>
          <a:bodyPr wrap="square" lIns="0" rIns="0" tIns="0" bIns="0" anchor="t">
            <a:spAutoFit/>
          </a:bodyPr>
          <a:lstStyle/>
          <a:p>
            <a:pPr algn="l">
              <a:spcAft>
                <a:spcPts val="200"/>
              </a:spcAft>
            </a:pPr>
            <a:r>
              <a:rPr sz="1100" b="1" i="0" spc="150">
                <a:solidFill>
                  <a:srgbClr val="005596"/>
                </a:solidFill>
                <a:latin typeface="Calibri"/>
              </a:rPr>
              <a:t>FIND</a:t>
            </a:r>
          </a:p>
          <a:p>
            <a:pPr algn="l">
              <a:spcAft>
                <a:spcPts val="300"/>
              </a:spcAft>
            </a:pPr>
            <a:r>
              <a:rPr sz="1800" b="1" i="0">
                <a:solidFill>
                  <a:srgbClr val="1B3550"/>
                </a:solidFill>
                <a:latin typeface="Cambria"/>
              </a:rPr>
              <a:t>Free-room finder</a:t>
            </a:r>
          </a:p>
          <a:p>
            <a:pPr algn="l"/>
            <a:r>
              <a:rPr sz="1400" b="0" i="0">
                <a:solidFill>
                  <a:srgbClr val="5A7088"/>
                </a:solidFill>
                <a:latin typeface="Calibri"/>
              </a:rPr>
              <a:t>Pick a time and see rooms with no overlapping booking</a:t>
            </a:r>
          </a:p>
        </p:txBody>
      </p:sp>
      <p:sp>
        <p:nvSpPr>
          <p:cNvPr id="7" name="Feature card 3"/>
          <p:cNvSpPr/>
          <p:nvPr/>
        </p:nvSpPr>
        <p:spPr>
          <a:xfrm>
            <a:off x="731520" y="3200400"/>
            <a:ext cx="3291840" cy="1417320"/>
          </a:xfrm>
          <a:prstGeom prst="roundRect">
            <a:avLst>
              <a:gd name="adj" fmla="val 7000"/>
            </a:avLst>
          </a:prstGeom>
          <a:solidFill>
            <a:srgbClr val="EEF3FA"/>
          </a:solidFill>
          <a:ln>
            <a:noFill/>
          </a:ln>
        </p:spPr>
        <p:txBody>
          <a:bodyPr rtlCol="0" anchor="ctr"/>
          <a:lstStyle/>
          <a:p>
            <a:pPr algn="ctr"/>
          </a:p>
        </p:txBody>
      </p:sp>
      <p:sp>
        <p:nvSpPr>
          <p:cNvPr id="8" name="Feature 3"/>
          <p:cNvSpPr txBox="1"/>
          <p:nvPr/>
        </p:nvSpPr>
        <p:spPr>
          <a:xfrm>
            <a:off x="932688" y="3337560"/>
            <a:ext cx="2889504" cy="1188720"/>
          </a:xfrm>
          <a:prstGeom prst="rect">
            <a:avLst/>
          </a:prstGeom>
          <a:noFill/>
        </p:spPr>
        <p:txBody>
          <a:bodyPr wrap="square" lIns="0" rIns="0" tIns="0" bIns="0" anchor="t">
            <a:spAutoFit/>
          </a:bodyPr>
          <a:lstStyle/>
          <a:p>
            <a:pPr algn="l">
              <a:spcAft>
                <a:spcPts val="200"/>
              </a:spcAft>
            </a:pPr>
            <a:r>
              <a:rPr sz="1100" b="1" i="0" spc="150">
                <a:solidFill>
                  <a:srgbClr val="005596"/>
                </a:solidFill>
                <a:latin typeface="Calibri"/>
              </a:rPr>
              <a:t>PLAN</a:t>
            </a:r>
          </a:p>
          <a:p>
            <a:pPr algn="l">
              <a:spcAft>
                <a:spcPts val="300"/>
              </a:spcAft>
            </a:pPr>
            <a:r>
              <a:rPr sz="1800" b="1" i="0">
                <a:solidFill>
                  <a:srgbClr val="1B3550"/>
                </a:solidFill>
                <a:latin typeface="Cambria"/>
              </a:rPr>
              <a:t>Save My Practical</a:t>
            </a:r>
          </a:p>
          <a:p>
            <a:pPr algn="l"/>
            <a:r>
              <a:rPr sz="1400" b="0" i="0">
                <a:solidFill>
                  <a:srgbClr val="5A7088"/>
                </a:solidFill>
                <a:latin typeface="Calibri"/>
              </a:rPr>
              <a:t>Class size and activity give ranked room and time options</a:t>
            </a:r>
          </a:p>
        </p:txBody>
      </p:sp>
      <p:sp>
        <p:nvSpPr>
          <p:cNvPr id="9" name="Feature card 4"/>
          <p:cNvSpPr/>
          <p:nvPr/>
        </p:nvSpPr>
        <p:spPr>
          <a:xfrm>
            <a:off x="4251960" y="3200400"/>
            <a:ext cx="3291840" cy="1417320"/>
          </a:xfrm>
          <a:prstGeom prst="roundRect">
            <a:avLst>
              <a:gd name="adj" fmla="val 7000"/>
            </a:avLst>
          </a:prstGeom>
          <a:solidFill>
            <a:srgbClr val="EEF3FA"/>
          </a:solidFill>
          <a:ln>
            <a:noFill/>
          </a:ln>
        </p:spPr>
        <p:txBody>
          <a:bodyPr rtlCol="0" anchor="ctr"/>
          <a:lstStyle/>
          <a:p>
            <a:pPr algn="ctr"/>
          </a:p>
        </p:txBody>
      </p:sp>
      <p:sp>
        <p:nvSpPr>
          <p:cNvPr id="10" name="Feature 4"/>
          <p:cNvSpPr txBox="1"/>
          <p:nvPr/>
        </p:nvSpPr>
        <p:spPr>
          <a:xfrm>
            <a:off x="4453128" y="3337560"/>
            <a:ext cx="2889504" cy="1188720"/>
          </a:xfrm>
          <a:prstGeom prst="rect">
            <a:avLst/>
          </a:prstGeom>
          <a:noFill/>
        </p:spPr>
        <p:txBody>
          <a:bodyPr wrap="square" lIns="0" rIns="0" tIns="0" bIns="0" anchor="t">
            <a:spAutoFit/>
          </a:bodyPr>
          <a:lstStyle/>
          <a:p>
            <a:pPr algn="l">
              <a:spcAft>
                <a:spcPts val="200"/>
              </a:spcAft>
            </a:pPr>
            <a:r>
              <a:rPr sz="1100" b="1" i="0" spc="150">
                <a:solidFill>
                  <a:srgbClr val="005596"/>
                </a:solidFill>
                <a:latin typeface="Calibri"/>
              </a:rPr>
              <a:t>TRACK</a:t>
            </a:r>
          </a:p>
          <a:p>
            <a:pPr algn="l">
              <a:spcAft>
                <a:spcPts val="300"/>
              </a:spcAft>
            </a:pPr>
            <a:r>
              <a:rPr sz="1800" b="1" i="0">
                <a:solidFill>
                  <a:srgbClr val="1B3550"/>
                </a:solidFill>
                <a:latin typeface="Cambria"/>
              </a:rPr>
              <a:t>Student access</a:t>
            </a:r>
          </a:p>
          <a:p>
            <a:pPr algn="l"/>
            <a:r>
              <a:rPr sz="1400" b="0" i="0">
                <a:solidFill>
                  <a:srgbClr val="5A7088"/>
                </a:solidFill>
                <a:latin typeface="Calibri"/>
              </a:rPr>
              <a:t>Individual or group headcount, project titles and durations</a:t>
            </a:r>
          </a:p>
        </p:txBody>
      </p:sp>
      <p:sp>
        <p:nvSpPr>
          <p:cNvPr id="11" name="Feature card 5"/>
          <p:cNvSpPr/>
          <p:nvPr/>
        </p:nvSpPr>
        <p:spPr>
          <a:xfrm>
            <a:off x="731520" y="4800600"/>
            <a:ext cx="3291840" cy="1417320"/>
          </a:xfrm>
          <a:prstGeom prst="roundRect">
            <a:avLst>
              <a:gd name="adj" fmla="val 7000"/>
            </a:avLst>
          </a:prstGeom>
          <a:solidFill>
            <a:srgbClr val="EEF3FA"/>
          </a:solidFill>
          <a:ln>
            <a:noFill/>
          </a:ln>
        </p:spPr>
        <p:txBody>
          <a:bodyPr rtlCol="0" anchor="ctr"/>
          <a:lstStyle/>
          <a:p>
            <a:pPr algn="ctr"/>
          </a:p>
        </p:txBody>
      </p:sp>
      <p:sp>
        <p:nvSpPr>
          <p:cNvPr id="12" name="Feature 5"/>
          <p:cNvSpPr txBox="1"/>
          <p:nvPr/>
        </p:nvSpPr>
        <p:spPr>
          <a:xfrm>
            <a:off x="932688" y="4937760"/>
            <a:ext cx="2889504" cy="1188720"/>
          </a:xfrm>
          <a:prstGeom prst="rect">
            <a:avLst/>
          </a:prstGeom>
          <a:noFill/>
        </p:spPr>
        <p:txBody>
          <a:bodyPr wrap="square" lIns="0" rIns="0" tIns="0" bIns="0" anchor="t">
            <a:spAutoFit/>
          </a:bodyPr>
          <a:lstStyle/>
          <a:p>
            <a:pPr algn="l">
              <a:spcAft>
                <a:spcPts val="200"/>
              </a:spcAft>
            </a:pPr>
            <a:r>
              <a:rPr sz="1100" b="1" i="0" spc="150">
                <a:solidFill>
                  <a:srgbClr val="005596"/>
                </a:solidFill>
                <a:latin typeface="Calibri"/>
              </a:rPr>
              <a:t>REPORT</a:t>
            </a:r>
          </a:p>
          <a:p>
            <a:pPr algn="l">
              <a:spcAft>
                <a:spcPts val="300"/>
              </a:spcAft>
            </a:pPr>
            <a:r>
              <a:rPr sz="1800" b="1" i="0">
                <a:solidFill>
                  <a:srgbClr val="1B3550"/>
                </a:solidFill>
                <a:latin typeface="Cambria"/>
              </a:rPr>
              <a:t>Reports and CSV</a:t>
            </a:r>
          </a:p>
          <a:p>
            <a:pPr algn="l"/>
            <a:r>
              <a:rPr sz="1400" b="0" i="0">
                <a:solidFill>
                  <a:srgbClr val="5A7088"/>
                </a:solidFill>
                <a:latin typeface="Calibri"/>
              </a:rPr>
              <a:t>Filter by date, type, status and purpose, then export</a:t>
            </a:r>
          </a:p>
        </p:txBody>
      </p:sp>
      <p:sp>
        <p:nvSpPr>
          <p:cNvPr id="13" name="Feature card 6"/>
          <p:cNvSpPr/>
          <p:nvPr/>
        </p:nvSpPr>
        <p:spPr>
          <a:xfrm>
            <a:off x="4251960" y="4800600"/>
            <a:ext cx="3291840" cy="1417320"/>
          </a:xfrm>
          <a:prstGeom prst="roundRect">
            <a:avLst>
              <a:gd name="adj" fmla="val 7000"/>
            </a:avLst>
          </a:prstGeom>
          <a:solidFill>
            <a:srgbClr val="EEF3FA"/>
          </a:solidFill>
          <a:ln>
            <a:noFill/>
          </a:ln>
        </p:spPr>
        <p:txBody>
          <a:bodyPr rtlCol="0" anchor="ctr"/>
          <a:lstStyle/>
          <a:p>
            <a:pPr algn="ctr"/>
          </a:p>
        </p:txBody>
      </p:sp>
      <p:sp>
        <p:nvSpPr>
          <p:cNvPr id="14" name="Feature 6"/>
          <p:cNvSpPr txBox="1"/>
          <p:nvPr/>
        </p:nvSpPr>
        <p:spPr>
          <a:xfrm>
            <a:off x="4453128" y="4937760"/>
            <a:ext cx="2889504" cy="1188720"/>
          </a:xfrm>
          <a:prstGeom prst="rect">
            <a:avLst/>
          </a:prstGeom>
          <a:noFill/>
        </p:spPr>
        <p:txBody>
          <a:bodyPr wrap="square" lIns="0" rIns="0" tIns="0" bIns="0" anchor="t">
            <a:spAutoFit/>
          </a:bodyPr>
          <a:lstStyle/>
          <a:p>
            <a:pPr algn="l">
              <a:spcAft>
                <a:spcPts val="200"/>
              </a:spcAft>
            </a:pPr>
            <a:r>
              <a:rPr sz="1100" b="1" i="0" spc="150">
                <a:solidFill>
                  <a:srgbClr val="005596"/>
                </a:solidFill>
                <a:latin typeface="Calibri"/>
              </a:rPr>
              <a:t>MANAGE</a:t>
            </a:r>
          </a:p>
          <a:p>
            <a:pPr algn="l">
              <a:spcAft>
                <a:spcPts val="300"/>
              </a:spcAft>
            </a:pPr>
            <a:r>
              <a:rPr sz="1800" b="1" i="0">
                <a:solidFill>
                  <a:srgbClr val="1B3550"/>
                </a:solidFill>
                <a:latin typeface="Cambria"/>
              </a:rPr>
              <a:t>Coordinator tools</a:t>
            </a:r>
          </a:p>
          <a:p>
            <a:pPr algn="l"/>
            <a:r>
              <a:rPr sz="1400" b="0" i="0">
                <a:solidFill>
                  <a:srgbClr val="5A7088"/>
                </a:solidFill>
                <a:latin typeface="Calibri"/>
              </a:rPr>
              <a:t>Approve or reject with reasons; set rooms to maintenance</a:t>
            </a:r>
          </a:p>
        </p:txBody>
      </p:sp>
      <p:pic>
        <p:nvPicPr>
          <p:cNvPr id="15" name="Save My Practical screenshot" descr="Screenshot of the Save My Practical page: a form for activity, class size and time, with ranked lab suggestions below."/>
          <p:cNvPicPr>
            <a:picLocks noChangeAspect="1"/>
          </p:cNvPicPr>
          <p:nvPr/>
        </p:nvPicPr>
        <p:blipFill>
          <a:blip r:embed="rId2"/>
          <a:stretch>
            <a:fillRect/>
          </a:stretch>
        </p:blipFill>
        <p:spPr>
          <a:xfrm>
            <a:off x="7955279" y="1600200"/>
            <a:ext cx="3502152" cy="4435078"/>
          </a:xfrm>
          <a:prstGeom prst="rect">
            <a:avLst/>
          </a:prstGeom>
          <a:ln w="12700">
            <a:solidFill>
              <a:srgbClr val="D3DEEB"/>
            </a:solidFill>
          </a:ln>
        </p:spPr>
      </p:pic>
      <p:sp>
        <p:nvSpPr>
          <p:cNvPr id="16" name="Screenshot caption"/>
          <p:cNvSpPr txBox="1"/>
          <p:nvPr/>
        </p:nvSpPr>
        <p:spPr>
          <a:xfrm>
            <a:off x="7955279" y="6108430"/>
            <a:ext cx="3502152" cy="274320"/>
          </a:xfrm>
          <a:prstGeom prst="rect">
            <a:avLst/>
          </a:prstGeom>
          <a:noFill/>
        </p:spPr>
        <p:txBody>
          <a:bodyPr wrap="square" lIns="0" rIns="0" tIns="0" bIns="0" anchor="t">
            <a:spAutoFit/>
          </a:bodyPr>
          <a:lstStyle/>
          <a:p>
            <a:pPr algn="l"/>
            <a:r>
              <a:rPr sz="1200" b="0" i="0">
                <a:solidFill>
                  <a:srgbClr val="5A7088"/>
                </a:solidFill>
                <a:latin typeface="Calibri"/>
              </a:rPr>
              <a:t>Save My Practical, shown with demo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731520" y="457200"/>
            <a:ext cx="10698480" cy="822960"/>
          </a:xfrm>
        </p:spPr>
        <p:txBody>
          <a:bodyPr wrap="square" lIns="0" rIns="0" tIns="0" bIns="0" anchor="ctr"/>
          <a:lstStyle/>
          <a:p>
            <a:pPr algn="l"/>
            <a:r>
              <a:rPr sz="3400" b="1" i="0">
                <a:solidFill>
                  <a:srgbClr val="0A2A4A"/>
                </a:solidFill>
                <a:latin typeface="Cambria"/>
              </a:rPr>
              <a:t>How a booking moves through the system</a:t>
            </a:r>
          </a:p>
        </p:txBody>
      </p:sp>
      <p:sp>
        <p:nvSpPr>
          <p:cNvPr id="3" name="Lifecycle label"/>
          <p:cNvSpPr txBox="1"/>
          <p:nvPr/>
        </p:nvSpPr>
        <p:spPr>
          <a:xfrm>
            <a:off x="731520" y="1371600"/>
            <a:ext cx="5486400" cy="274320"/>
          </a:xfrm>
          <a:prstGeom prst="rect">
            <a:avLst/>
          </a:prstGeom>
          <a:noFill/>
        </p:spPr>
        <p:txBody>
          <a:bodyPr wrap="square" lIns="0" rIns="0" tIns="0" bIns="0" anchor="t">
            <a:spAutoFit/>
          </a:bodyPr>
          <a:lstStyle/>
          <a:p>
            <a:pPr algn="l"/>
            <a:r>
              <a:rPr sz="1100" b="1" i="0" spc="150">
                <a:solidFill>
                  <a:srgbClr val="5A7088"/>
                </a:solidFill>
                <a:latin typeface="Calibri"/>
              </a:rPr>
              <a:t>BOOKING LIFECYCLE</a:t>
            </a:r>
          </a:p>
        </p:txBody>
      </p:sp>
      <p:sp>
        <p:nvSpPr>
          <p:cNvPr id="4" name="Step 1"/>
          <p:cNvSpPr/>
          <p:nvPr/>
        </p:nvSpPr>
        <p:spPr>
          <a:xfrm>
            <a:off x="731520" y="1691640"/>
            <a:ext cx="1828800" cy="1371600"/>
          </a:xfrm>
          <a:prstGeom prst="roundRect">
            <a:avLst>
              <a:gd name="adj" fmla="val 8000"/>
            </a:avLst>
          </a:prstGeom>
          <a:solidFill>
            <a:srgbClr val="005596"/>
          </a:solidFill>
          <a:ln>
            <a:noFill/>
          </a:ln>
        </p:spPr>
        <p:txBody>
          <a:bodyPr rtlCol="0" anchor="ctr"/>
          <a:lstStyle/>
          <a:p>
            <a:pPr algn="ctr"/>
          </a:p>
        </p:txBody>
      </p:sp>
      <p:sp>
        <p:nvSpPr>
          <p:cNvPr id="5" name="Step text 1"/>
          <p:cNvSpPr txBox="1"/>
          <p:nvPr/>
        </p:nvSpPr>
        <p:spPr>
          <a:xfrm>
            <a:off x="886968" y="1810512"/>
            <a:ext cx="1517904" cy="1143000"/>
          </a:xfrm>
          <a:prstGeom prst="rect">
            <a:avLst/>
          </a:prstGeom>
          <a:noFill/>
        </p:spPr>
        <p:txBody>
          <a:bodyPr wrap="square" lIns="0" rIns="0" tIns="0" bIns="0" anchor="t">
            <a:spAutoFit/>
          </a:bodyPr>
          <a:lstStyle/>
          <a:p>
            <a:pPr algn="l"/>
            <a:r>
              <a:rPr sz="1200" b="1" i="0">
                <a:solidFill>
                  <a:srgbClr val="E3B44C"/>
                </a:solidFill>
                <a:latin typeface="Calibri"/>
              </a:rPr>
              <a:t>1</a:t>
            </a:r>
          </a:p>
          <a:p>
            <a:pPr algn="l">
              <a:spcAft>
                <a:spcPts val="200"/>
              </a:spcAft>
            </a:pPr>
            <a:r>
              <a:rPr sz="1800" b="1" i="0">
                <a:solidFill>
                  <a:srgbClr val="FFFFFF"/>
                </a:solidFill>
                <a:latin typeface="Cambria"/>
              </a:rPr>
              <a:t>Request</a:t>
            </a:r>
          </a:p>
          <a:p>
            <a:pPr algn="l"/>
            <a:r>
              <a:rPr sz="1400" b="0" i="0">
                <a:solidFill>
                  <a:srgbClr val="CADCFC"/>
                </a:solidFill>
                <a:latin typeface="Calibri"/>
              </a:rPr>
              <a:t>Pending; holds the slot</a:t>
            </a:r>
          </a:p>
        </p:txBody>
      </p:sp>
      <p:sp>
        <p:nvSpPr>
          <p:cNvPr id="6" name="Step arrow 1"/>
          <p:cNvSpPr/>
          <p:nvPr/>
        </p:nvSpPr>
        <p:spPr>
          <a:xfrm>
            <a:off x="2615184" y="2221992"/>
            <a:ext cx="274320" cy="310896"/>
          </a:xfrm>
          <a:prstGeom prst="rightArrow">
            <a:avLst/>
          </a:prstGeom>
          <a:solidFill>
            <a:srgbClr val="E3B44C"/>
          </a:solidFill>
          <a:ln>
            <a:noFill/>
          </a:ln>
        </p:spPr>
        <p:txBody>
          <a:bodyPr rtlCol="0" anchor="ctr"/>
          <a:lstStyle/>
          <a:p>
            <a:pPr algn="ctr"/>
          </a:p>
        </p:txBody>
      </p:sp>
      <p:sp>
        <p:nvSpPr>
          <p:cNvPr id="7" name="Step 2"/>
          <p:cNvSpPr/>
          <p:nvPr/>
        </p:nvSpPr>
        <p:spPr>
          <a:xfrm>
            <a:off x="2953512" y="1691640"/>
            <a:ext cx="1828800" cy="1371600"/>
          </a:xfrm>
          <a:prstGeom prst="roundRect">
            <a:avLst>
              <a:gd name="adj" fmla="val 8000"/>
            </a:avLst>
          </a:prstGeom>
          <a:solidFill>
            <a:srgbClr val="005596"/>
          </a:solidFill>
          <a:ln>
            <a:noFill/>
          </a:ln>
        </p:spPr>
        <p:txBody>
          <a:bodyPr rtlCol="0" anchor="ctr"/>
          <a:lstStyle/>
          <a:p>
            <a:pPr algn="ctr"/>
          </a:p>
        </p:txBody>
      </p:sp>
      <p:sp>
        <p:nvSpPr>
          <p:cNvPr id="8" name="Step text 2"/>
          <p:cNvSpPr txBox="1"/>
          <p:nvPr/>
        </p:nvSpPr>
        <p:spPr>
          <a:xfrm>
            <a:off x="3108960" y="1810512"/>
            <a:ext cx="1517904" cy="1143000"/>
          </a:xfrm>
          <a:prstGeom prst="rect">
            <a:avLst/>
          </a:prstGeom>
          <a:noFill/>
        </p:spPr>
        <p:txBody>
          <a:bodyPr wrap="square" lIns="0" rIns="0" tIns="0" bIns="0" anchor="t">
            <a:spAutoFit/>
          </a:bodyPr>
          <a:lstStyle/>
          <a:p>
            <a:pPr algn="l"/>
            <a:r>
              <a:rPr sz="1200" b="1" i="0">
                <a:solidFill>
                  <a:srgbClr val="E3B44C"/>
                </a:solidFill>
                <a:latin typeface="Calibri"/>
              </a:rPr>
              <a:t>2</a:t>
            </a:r>
          </a:p>
          <a:p>
            <a:pPr algn="l">
              <a:spcAft>
                <a:spcPts val="200"/>
              </a:spcAft>
            </a:pPr>
            <a:r>
              <a:rPr sz="1800" b="1" i="0">
                <a:solidFill>
                  <a:srgbClr val="FFFFFF"/>
                </a:solidFill>
                <a:latin typeface="Cambria"/>
              </a:rPr>
              <a:t>Check</a:t>
            </a:r>
          </a:p>
          <a:p>
            <a:pPr algn="l"/>
            <a:r>
              <a:rPr sz="1400" b="0" i="0">
                <a:solidFill>
                  <a:srgbClr val="CADCFC"/>
                </a:solidFill>
                <a:latin typeface="Calibri"/>
              </a:rPr>
              <a:t>Overlap test in a transaction</a:t>
            </a:r>
          </a:p>
        </p:txBody>
      </p:sp>
      <p:sp>
        <p:nvSpPr>
          <p:cNvPr id="9" name="Step arrow 2"/>
          <p:cNvSpPr/>
          <p:nvPr/>
        </p:nvSpPr>
        <p:spPr>
          <a:xfrm>
            <a:off x="4837176" y="2221992"/>
            <a:ext cx="274320" cy="310896"/>
          </a:xfrm>
          <a:prstGeom prst="rightArrow">
            <a:avLst/>
          </a:prstGeom>
          <a:solidFill>
            <a:srgbClr val="E3B44C"/>
          </a:solidFill>
          <a:ln>
            <a:noFill/>
          </a:ln>
        </p:spPr>
        <p:txBody>
          <a:bodyPr rtlCol="0" anchor="ctr"/>
          <a:lstStyle/>
          <a:p>
            <a:pPr algn="ctr"/>
          </a:p>
        </p:txBody>
      </p:sp>
      <p:sp>
        <p:nvSpPr>
          <p:cNvPr id="10" name="Step 3"/>
          <p:cNvSpPr/>
          <p:nvPr/>
        </p:nvSpPr>
        <p:spPr>
          <a:xfrm>
            <a:off x="5175504" y="1691640"/>
            <a:ext cx="1828800" cy="1371600"/>
          </a:xfrm>
          <a:prstGeom prst="roundRect">
            <a:avLst>
              <a:gd name="adj" fmla="val 8000"/>
            </a:avLst>
          </a:prstGeom>
          <a:solidFill>
            <a:srgbClr val="005596"/>
          </a:solidFill>
          <a:ln>
            <a:noFill/>
          </a:ln>
        </p:spPr>
        <p:txBody>
          <a:bodyPr rtlCol="0" anchor="ctr"/>
          <a:lstStyle/>
          <a:p>
            <a:pPr algn="ctr"/>
          </a:p>
        </p:txBody>
      </p:sp>
      <p:sp>
        <p:nvSpPr>
          <p:cNvPr id="11" name="Step text 3"/>
          <p:cNvSpPr txBox="1"/>
          <p:nvPr/>
        </p:nvSpPr>
        <p:spPr>
          <a:xfrm>
            <a:off x="5330952" y="1810512"/>
            <a:ext cx="1517904" cy="1143000"/>
          </a:xfrm>
          <a:prstGeom prst="rect">
            <a:avLst/>
          </a:prstGeom>
          <a:noFill/>
        </p:spPr>
        <p:txBody>
          <a:bodyPr wrap="square" lIns="0" rIns="0" tIns="0" bIns="0" anchor="t">
            <a:spAutoFit/>
          </a:bodyPr>
          <a:lstStyle/>
          <a:p>
            <a:pPr algn="l"/>
            <a:r>
              <a:rPr sz="1200" b="1" i="0">
                <a:solidFill>
                  <a:srgbClr val="E3B44C"/>
                </a:solidFill>
                <a:latin typeface="Calibri"/>
              </a:rPr>
              <a:t>3</a:t>
            </a:r>
          </a:p>
          <a:p>
            <a:pPr algn="l">
              <a:spcAft>
                <a:spcPts val="200"/>
              </a:spcAft>
            </a:pPr>
            <a:r>
              <a:rPr sz="1800" b="1" i="0">
                <a:solidFill>
                  <a:srgbClr val="FFFFFF"/>
                </a:solidFill>
                <a:latin typeface="Cambria"/>
              </a:rPr>
              <a:t>Review</a:t>
            </a:r>
          </a:p>
          <a:p>
            <a:pPr algn="l"/>
            <a:r>
              <a:rPr sz="1400" b="0" i="0">
                <a:solidFill>
                  <a:srgbClr val="CADCFC"/>
                </a:solidFill>
                <a:latin typeface="Calibri"/>
              </a:rPr>
              <a:t>Coordinator decides</a:t>
            </a:r>
          </a:p>
        </p:txBody>
      </p:sp>
      <p:sp>
        <p:nvSpPr>
          <p:cNvPr id="12" name="Step arrow 3"/>
          <p:cNvSpPr/>
          <p:nvPr/>
        </p:nvSpPr>
        <p:spPr>
          <a:xfrm>
            <a:off x="7059168" y="2221992"/>
            <a:ext cx="274320" cy="310896"/>
          </a:xfrm>
          <a:prstGeom prst="rightArrow">
            <a:avLst/>
          </a:prstGeom>
          <a:solidFill>
            <a:srgbClr val="E3B44C"/>
          </a:solidFill>
          <a:ln>
            <a:noFill/>
          </a:ln>
        </p:spPr>
        <p:txBody>
          <a:bodyPr rtlCol="0" anchor="ctr"/>
          <a:lstStyle/>
          <a:p>
            <a:pPr algn="ctr"/>
          </a:p>
        </p:txBody>
      </p:sp>
      <p:sp>
        <p:nvSpPr>
          <p:cNvPr id="13" name="Step 4"/>
          <p:cNvSpPr/>
          <p:nvPr/>
        </p:nvSpPr>
        <p:spPr>
          <a:xfrm>
            <a:off x="7397496" y="1691640"/>
            <a:ext cx="1828800" cy="1371600"/>
          </a:xfrm>
          <a:prstGeom prst="roundRect">
            <a:avLst>
              <a:gd name="adj" fmla="val 8000"/>
            </a:avLst>
          </a:prstGeom>
          <a:solidFill>
            <a:srgbClr val="0A2A4A"/>
          </a:solidFill>
          <a:ln>
            <a:noFill/>
          </a:ln>
        </p:spPr>
        <p:txBody>
          <a:bodyPr rtlCol="0" anchor="ctr"/>
          <a:lstStyle/>
          <a:p>
            <a:pPr algn="ctr"/>
          </a:p>
        </p:txBody>
      </p:sp>
      <p:sp>
        <p:nvSpPr>
          <p:cNvPr id="14" name="Step text 4"/>
          <p:cNvSpPr txBox="1"/>
          <p:nvPr/>
        </p:nvSpPr>
        <p:spPr>
          <a:xfrm>
            <a:off x="7552944" y="1810512"/>
            <a:ext cx="1517904" cy="1143000"/>
          </a:xfrm>
          <a:prstGeom prst="rect">
            <a:avLst/>
          </a:prstGeom>
          <a:noFill/>
        </p:spPr>
        <p:txBody>
          <a:bodyPr wrap="square" lIns="0" rIns="0" tIns="0" bIns="0" anchor="t">
            <a:spAutoFit/>
          </a:bodyPr>
          <a:lstStyle/>
          <a:p>
            <a:pPr algn="l"/>
            <a:r>
              <a:rPr sz="1200" b="1" i="0">
                <a:solidFill>
                  <a:srgbClr val="E3B44C"/>
                </a:solidFill>
                <a:latin typeface="Calibri"/>
              </a:rPr>
              <a:t>4</a:t>
            </a:r>
          </a:p>
          <a:p>
            <a:pPr algn="l">
              <a:spcAft>
                <a:spcPts val="200"/>
              </a:spcAft>
            </a:pPr>
            <a:r>
              <a:rPr sz="1800" b="1" i="0">
                <a:solidFill>
                  <a:srgbClr val="FFFFFF"/>
                </a:solidFill>
                <a:latin typeface="Cambria"/>
              </a:rPr>
              <a:t>Decision</a:t>
            </a:r>
          </a:p>
          <a:p>
            <a:pPr algn="l"/>
            <a:r>
              <a:rPr sz="1400" b="0" i="0">
                <a:solidFill>
                  <a:srgbClr val="CADCFC"/>
                </a:solidFill>
                <a:latin typeface="Calibri"/>
              </a:rPr>
              <a:t>Approved or rejected with a note</a:t>
            </a:r>
          </a:p>
        </p:txBody>
      </p:sp>
      <p:sp>
        <p:nvSpPr>
          <p:cNvPr id="15" name="Step arrow 4"/>
          <p:cNvSpPr/>
          <p:nvPr/>
        </p:nvSpPr>
        <p:spPr>
          <a:xfrm>
            <a:off x="9281160" y="2221992"/>
            <a:ext cx="274320" cy="310896"/>
          </a:xfrm>
          <a:prstGeom prst="rightArrow">
            <a:avLst/>
          </a:prstGeom>
          <a:solidFill>
            <a:srgbClr val="E3B44C"/>
          </a:solidFill>
          <a:ln>
            <a:noFill/>
          </a:ln>
        </p:spPr>
        <p:txBody>
          <a:bodyPr rtlCol="0" anchor="ctr"/>
          <a:lstStyle/>
          <a:p>
            <a:pPr algn="ctr"/>
          </a:p>
        </p:txBody>
      </p:sp>
      <p:sp>
        <p:nvSpPr>
          <p:cNvPr id="16" name="Step 5"/>
          <p:cNvSpPr/>
          <p:nvPr/>
        </p:nvSpPr>
        <p:spPr>
          <a:xfrm>
            <a:off x="9619488" y="1691640"/>
            <a:ext cx="1828800" cy="1371600"/>
          </a:xfrm>
          <a:prstGeom prst="roundRect">
            <a:avLst>
              <a:gd name="adj" fmla="val 8000"/>
            </a:avLst>
          </a:prstGeom>
          <a:solidFill>
            <a:srgbClr val="005596"/>
          </a:solidFill>
          <a:ln>
            <a:noFill/>
          </a:ln>
        </p:spPr>
        <p:txBody>
          <a:bodyPr rtlCol="0" anchor="ctr"/>
          <a:lstStyle/>
          <a:p>
            <a:pPr algn="ctr"/>
          </a:p>
        </p:txBody>
      </p:sp>
      <p:sp>
        <p:nvSpPr>
          <p:cNvPr id="17" name="Step text 5"/>
          <p:cNvSpPr txBox="1"/>
          <p:nvPr/>
        </p:nvSpPr>
        <p:spPr>
          <a:xfrm>
            <a:off x="9774936" y="1810512"/>
            <a:ext cx="1517904" cy="1143000"/>
          </a:xfrm>
          <a:prstGeom prst="rect">
            <a:avLst/>
          </a:prstGeom>
          <a:noFill/>
        </p:spPr>
        <p:txBody>
          <a:bodyPr wrap="square" lIns="0" rIns="0" tIns="0" bIns="0" anchor="t">
            <a:spAutoFit/>
          </a:bodyPr>
          <a:lstStyle/>
          <a:p>
            <a:pPr algn="l"/>
            <a:r>
              <a:rPr sz="1200" b="1" i="0">
                <a:solidFill>
                  <a:srgbClr val="E3B44C"/>
                </a:solidFill>
                <a:latin typeface="Calibri"/>
              </a:rPr>
              <a:t>5</a:t>
            </a:r>
          </a:p>
          <a:p>
            <a:pPr algn="l">
              <a:spcAft>
                <a:spcPts val="200"/>
              </a:spcAft>
            </a:pPr>
            <a:r>
              <a:rPr sz="1800" b="1" i="0">
                <a:solidFill>
                  <a:srgbClr val="FFFFFF"/>
                </a:solidFill>
                <a:latin typeface="Cambria"/>
              </a:rPr>
              <a:t>Cancel</a:t>
            </a:r>
          </a:p>
          <a:p>
            <a:pPr algn="l"/>
            <a:r>
              <a:rPr sz="1400" b="0" i="0">
                <a:solidFill>
                  <a:srgbClr val="CADCFC"/>
                </a:solidFill>
                <a:latin typeface="Calibri"/>
              </a:rPr>
              <a:t>Slot freed, history kept</a:t>
            </a:r>
          </a:p>
        </p:txBody>
      </p:sp>
      <p:sp>
        <p:nvSpPr>
          <p:cNvPr id="18" name="Architecture label"/>
          <p:cNvSpPr txBox="1"/>
          <p:nvPr/>
        </p:nvSpPr>
        <p:spPr>
          <a:xfrm>
            <a:off x="731520" y="3429000"/>
            <a:ext cx="5486400" cy="274320"/>
          </a:xfrm>
          <a:prstGeom prst="rect">
            <a:avLst/>
          </a:prstGeom>
          <a:noFill/>
        </p:spPr>
        <p:txBody>
          <a:bodyPr wrap="square" lIns="0" rIns="0" tIns="0" bIns="0" anchor="t">
            <a:spAutoFit/>
          </a:bodyPr>
          <a:lstStyle/>
          <a:p>
            <a:pPr algn="l"/>
            <a:r>
              <a:rPr sz="1100" b="1" i="0" spc="150">
                <a:solidFill>
                  <a:srgbClr val="5A7088"/>
                </a:solidFill>
                <a:latin typeface="Calibri"/>
              </a:rPr>
              <a:t>ARCHITECTURE</a:t>
            </a:r>
          </a:p>
        </p:txBody>
      </p:sp>
      <p:sp>
        <p:nvSpPr>
          <p:cNvPr id="19" name="Layer 1"/>
          <p:cNvSpPr/>
          <p:nvPr/>
        </p:nvSpPr>
        <p:spPr>
          <a:xfrm>
            <a:off x="731520" y="3749039"/>
            <a:ext cx="2103120" cy="1371600"/>
          </a:xfrm>
          <a:prstGeom prst="roundRect">
            <a:avLst>
              <a:gd name="adj" fmla="val 8000"/>
            </a:avLst>
          </a:prstGeom>
          <a:solidFill>
            <a:srgbClr val="EEF3FA"/>
          </a:solidFill>
          <a:ln w="12700">
            <a:solidFill>
              <a:srgbClr val="D3DEEB"/>
            </a:solidFill>
          </a:ln>
        </p:spPr>
        <p:txBody>
          <a:bodyPr rtlCol="0" anchor="ctr"/>
          <a:lstStyle/>
          <a:p>
            <a:pPr algn="ctr"/>
          </a:p>
        </p:txBody>
      </p:sp>
      <p:sp>
        <p:nvSpPr>
          <p:cNvPr id="20" name="Layer text 1"/>
          <p:cNvSpPr txBox="1"/>
          <p:nvPr/>
        </p:nvSpPr>
        <p:spPr>
          <a:xfrm>
            <a:off x="896112" y="3886200"/>
            <a:ext cx="1773936" cy="1143000"/>
          </a:xfrm>
          <a:prstGeom prst="rect">
            <a:avLst/>
          </a:prstGeom>
          <a:noFill/>
        </p:spPr>
        <p:txBody>
          <a:bodyPr wrap="square" lIns="0" rIns="0" tIns="0" bIns="0" anchor="t">
            <a:spAutoFit/>
          </a:bodyPr>
          <a:lstStyle/>
          <a:p>
            <a:pPr algn="l">
              <a:spcAft>
                <a:spcPts val="300"/>
              </a:spcAft>
            </a:pPr>
            <a:r>
              <a:rPr sz="1800" b="1" i="0">
                <a:solidFill>
                  <a:srgbClr val="1B3550"/>
                </a:solidFill>
                <a:latin typeface="Cambria"/>
              </a:rPr>
              <a:t>React 19 + Vite</a:t>
            </a:r>
          </a:p>
          <a:p>
            <a:pPr algn="l"/>
            <a:r>
              <a:rPr sz="1400" b="0" i="0">
                <a:solidFill>
                  <a:srgbClr val="5A7088"/>
                </a:solidFill>
                <a:latin typeface="Calibri"/>
              </a:rPr>
              <a:t>Screens, forms, timeline</a:t>
            </a:r>
          </a:p>
        </p:txBody>
      </p:sp>
      <p:sp>
        <p:nvSpPr>
          <p:cNvPr id="21" name="Layer arrow 1"/>
          <p:cNvSpPr/>
          <p:nvPr/>
        </p:nvSpPr>
        <p:spPr>
          <a:xfrm>
            <a:off x="2889504" y="4270248"/>
            <a:ext cx="301752" cy="310896"/>
          </a:xfrm>
          <a:prstGeom prst="rightArrow">
            <a:avLst/>
          </a:prstGeom>
          <a:solidFill>
            <a:srgbClr val="E3B44C"/>
          </a:solidFill>
          <a:ln>
            <a:noFill/>
          </a:ln>
        </p:spPr>
        <p:txBody>
          <a:bodyPr rtlCol="0" anchor="ctr"/>
          <a:lstStyle/>
          <a:p>
            <a:pPr algn="ctr"/>
          </a:p>
        </p:txBody>
      </p:sp>
      <p:sp>
        <p:nvSpPr>
          <p:cNvPr id="22" name="Layer 2"/>
          <p:cNvSpPr/>
          <p:nvPr/>
        </p:nvSpPr>
        <p:spPr>
          <a:xfrm>
            <a:off x="3246120" y="3749039"/>
            <a:ext cx="2103120" cy="1371600"/>
          </a:xfrm>
          <a:prstGeom prst="roundRect">
            <a:avLst>
              <a:gd name="adj" fmla="val 8000"/>
            </a:avLst>
          </a:prstGeom>
          <a:solidFill>
            <a:srgbClr val="EEF3FA"/>
          </a:solidFill>
          <a:ln w="12700">
            <a:solidFill>
              <a:srgbClr val="D3DEEB"/>
            </a:solidFill>
          </a:ln>
        </p:spPr>
        <p:txBody>
          <a:bodyPr rtlCol="0" anchor="ctr"/>
          <a:lstStyle/>
          <a:p>
            <a:pPr algn="ctr"/>
          </a:p>
        </p:txBody>
      </p:sp>
      <p:sp>
        <p:nvSpPr>
          <p:cNvPr id="23" name="Layer text 2"/>
          <p:cNvSpPr txBox="1"/>
          <p:nvPr/>
        </p:nvSpPr>
        <p:spPr>
          <a:xfrm>
            <a:off x="3410712" y="3886200"/>
            <a:ext cx="1773936" cy="1143000"/>
          </a:xfrm>
          <a:prstGeom prst="rect">
            <a:avLst/>
          </a:prstGeom>
          <a:noFill/>
        </p:spPr>
        <p:txBody>
          <a:bodyPr wrap="square" lIns="0" rIns="0" tIns="0" bIns="0" anchor="t">
            <a:spAutoFit/>
          </a:bodyPr>
          <a:lstStyle/>
          <a:p>
            <a:pPr algn="l">
              <a:spcAft>
                <a:spcPts val="300"/>
              </a:spcAft>
            </a:pPr>
            <a:r>
              <a:rPr sz="1800" b="1" i="0">
                <a:solidFill>
                  <a:srgbClr val="1B3550"/>
                </a:solidFill>
                <a:latin typeface="Cambria"/>
              </a:rPr>
              <a:t>Express 5 API</a:t>
            </a:r>
          </a:p>
          <a:p>
            <a:pPr algn="l"/>
            <a:r>
              <a:rPr sz="1400" b="0" i="0">
                <a:solidFill>
                  <a:srgbClr val="5A7088"/>
                </a:solidFill>
                <a:latin typeface="Calibri"/>
              </a:rPr>
              <a:t>Login, roles, validation</a:t>
            </a:r>
          </a:p>
        </p:txBody>
      </p:sp>
      <p:sp>
        <p:nvSpPr>
          <p:cNvPr id="24" name="Layer arrow 2"/>
          <p:cNvSpPr/>
          <p:nvPr/>
        </p:nvSpPr>
        <p:spPr>
          <a:xfrm>
            <a:off x="5404104" y="4270248"/>
            <a:ext cx="301752" cy="310896"/>
          </a:xfrm>
          <a:prstGeom prst="rightArrow">
            <a:avLst/>
          </a:prstGeom>
          <a:solidFill>
            <a:srgbClr val="E3B44C"/>
          </a:solidFill>
          <a:ln>
            <a:noFill/>
          </a:ln>
        </p:spPr>
        <p:txBody>
          <a:bodyPr rtlCol="0" anchor="ctr"/>
          <a:lstStyle/>
          <a:p>
            <a:pPr algn="ctr"/>
          </a:p>
        </p:txBody>
      </p:sp>
      <p:sp>
        <p:nvSpPr>
          <p:cNvPr id="25" name="Layer 3"/>
          <p:cNvSpPr/>
          <p:nvPr/>
        </p:nvSpPr>
        <p:spPr>
          <a:xfrm>
            <a:off x="5760720" y="3749039"/>
            <a:ext cx="2103120" cy="1371600"/>
          </a:xfrm>
          <a:prstGeom prst="roundRect">
            <a:avLst>
              <a:gd name="adj" fmla="val 8000"/>
            </a:avLst>
          </a:prstGeom>
          <a:solidFill>
            <a:srgbClr val="EEF3FA"/>
          </a:solidFill>
          <a:ln w="12700">
            <a:solidFill>
              <a:srgbClr val="D3DEEB"/>
            </a:solidFill>
          </a:ln>
        </p:spPr>
        <p:txBody>
          <a:bodyPr rtlCol="0" anchor="ctr"/>
          <a:lstStyle/>
          <a:p>
            <a:pPr algn="ctr"/>
          </a:p>
        </p:txBody>
      </p:sp>
      <p:sp>
        <p:nvSpPr>
          <p:cNvPr id="26" name="Layer text 3"/>
          <p:cNvSpPr txBox="1"/>
          <p:nvPr/>
        </p:nvSpPr>
        <p:spPr>
          <a:xfrm>
            <a:off x="5925312" y="3886200"/>
            <a:ext cx="1773936" cy="1143000"/>
          </a:xfrm>
          <a:prstGeom prst="rect">
            <a:avLst/>
          </a:prstGeom>
          <a:noFill/>
        </p:spPr>
        <p:txBody>
          <a:bodyPr wrap="square" lIns="0" rIns="0" tIns="0" bIns="0" anchor="t">
            <a:spAutoFit/>
          </a:bodyPr>
          <a:lstStyle/>
          <a:p>
            <a:pPr algn="l">
              <a:spcAft>
                <a:spcPts val="300"/>
              </a:spcAft>
            </a:pPr>
            <a:r>
              <a:rPr sz="1800" b="1" i="0">
                <a:solidFill>
                  <a:srgbClr val="1B3550"/>
                </a:solidFill>
                <a:latin typeface="Cambria"/>
              </a:rPr>
              <a:t>SQLite</a:t>
            </a:r>
          </a:p>
          <a:p>
            <a:pPr algn="l"/>
            <a:r>
              <a:rPr sz="1400" b="0" i="0">
                <a:solidFill>
                  <a:srgbClr val="5A7088"/>
                </a:solidFill>
                <a:latin typeface="Calibri"/>
              </a:rPr>
              <a:t>Users, rooms, bookings, events</a:t>
            </a:r>
          </a:p>
        </p:txBody>
      </p:sp>
      <p:sp>
        <p:nvSpPr>
          <p:cNvPr id="27" name="Architecture note"/>
          <p:cNvSpPr txBox="1"/>
          <p:nvPr/>
        </p:nvSpPr>
        <p:spPr>
          <a:xfrm>
            <a:off x="731520" y="5349240"/>
            <a:ext cx="7132320" cy="777240"/>
          </a:xfrm>
          <a:prstGeom prst="rect">
            <a:avLst/>
          </a:prstGeom>
          <a:noFill/>
        </p:spPr>
        <p:txBody>
          <a:bodyPr wrap="square" lIns="0" rIns="0" tIns="0" bIns="0" anchor="t">
            <a:spAutoFit/>
          </a:bodyPr>
          <a:lstStyle/>
          <a:p>
            <a:pPr algn="l"/>
            <a:r>
              <a:rPr sz="1400" b="0" i="0">
                <a:solidFill>
                  <a:srgbClr val="1B3550"/>
                </a:solidFill>
                <a:latin typeface="Calibri"/>
              </a:rPr>
              <a:t>One Node 24 process serves the API and the built frontend. SQLite ships with Node, so no database server is needed.</a:t>
            </a:r>
          </a:p>
        </p:txBody>
      </p:sp>
      <p:sp>
        <p:nvSpPr>
          <p:cNvPr id="28" name="Formula card"/>
          <p:cNvSpPr/>
          <p:nvPr/>
        </p:nvSpPr>
        <p:spPr>
          <a:xfrm>
            <a:off x="8412480" y="3429000"/>
            <a:ext cx="3044952" cy="2697480"/>
          </a:xfrm>
          <a:prstGeom prst="roundRect">
            <a:avLst>
              <a:gd name="adj" fmla="val 6000"/>
            </a:avLst>
          </a:prstGeom>
          <a:solidFill>
            <a:srgbClr val="0A2A4A"/>
          </a:solidFill>
          <a:ln>
            <a:noFill/>
          </a:ln>
        </p:spPr>
        <p:txBody>
          <a:bodyPr rtlCol="0" anchor="ctr"/>
          <a:lstStyle/>
          <a:p>
            <a:pPr algn="ctr"/>
          </a:p>
        </p:txBody>
      </p:sp>
      <p:sp>
        <p:nvSpPr>
          <p:cNvPr id="29" name="Formula"/>
          <p:cNvSpPr txBox="1"/>
          <p:nvPr/>
        </p:nvSpPr>
        <p:spPr>
          <a:xfrm>
            <a:off x="8641080" y="3611880"/>
            <a:ext cx="2606040" cy="2377440"/>
          </a:xfrm>
          <a:prstGeom prst="rect">
            <a:avLst/>
          </a:prstGeom>
          <a:noFill/>
        </p:spPr>
        <p:txBody>
          <a:bodyPr wrap="square" lIns="0" rIns="0" tIns="0" bIns="0" anchor="t">
            <a:spAutoFit/>
          </a:bodyPr>
          <a:lstStyle/>
          <a:p>
            <a:pPr algn="l">
              <a:spcAft>
                <a:spcPts val="600"/>
              </a:spcAft>
            </a:pPr>
            <a:r>
              <a:rPr sz="1100" b="1" i="0" spc="150">
                <a:solidFill>
                  <a:srgbClr val="E3B44C"/>
                </a:solidFill>
                <a:latin typeface="Calibri"/>
              </a:rPr>
              <a:t>THE OVERLAP RULE</a:t>
            </a:r>
          </a:p>
          <a:p>
            <a:pPr algn="l"/>
            <a:r>
              <a:rPr sz="1400" b="1" i="0">
                <a:solidFill>
                  <a:srgbClr val="FFFFFF"/>
                </a:solidFill>
                <a:latin typeface="Consolas"/>
              </a:rPr>
              <a:t>new_start &lt; existing_end</a:t>
            </a:r>
          </a:p>
          <a:p>
            <a:pPr algn="l"/>
            <a:r>
              <a:rPr sz="1400" b="1" i="0">
                <a:solidFill>
                  <a:srgbClr val="E3B44C"/>
                </a:solidFill>
                <a:latin typeface="Consolas"/>
              </a:rPr>
              <a:t>AND</a:t>
            </a:r>
          </a:p>
          <a:p>
            <a:pPr algn="l">
              <a:spcAft>
                <a:spcPts val="1000"/>
              </a:spcAft>
            </a:pPr>
            <a:r>
              <a:rPr sz="1400" b="1" i="0">
                <a:solidFill>
                  <a:srgbClr val="FFFFFF"/>
                </a:solidFill>
                <a:latin typeface="Consolas"/>
              </a:rPr>
              <a:t>new_end &gt; existing_start</a:t>
            </a:r>
          </a:p>
          <a:p>
            <a:pPr algn="l"/>
            <a:r>
              <a:rPr sz="1400" b="0" i="0">
                <a:solidFill>
                  <a:srgbClr val="CADCFC"/>
                </a:solidFill>
                <a:latin typeface="Calibri"/>
              </a:rPr>
              <a:t>Only pending and approved bookings count, and the check repeats at approval.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731520" y="457200"/>
            <a:ext cx="10698480" cy="822960"/>
          </a:xfrm>
        </p:spPr>
        <p:txBody>
          <a:bodyPr wrap="square" lIns="0" rIns="0" tIns="0" bIns="0" anchor="ctr"/>
          <a:lstStyle/>
          <a:p>
            <a:pPr algn="l"/>
            <a:r>
              <a:rPr sz="3400" b="1" i="0">
                <a:solidFill>
                  <a:srgbClr val="0A2A4A"/>
                </a:solidFill>
                <a:latin typeface="Cambria"/>
              </a:rPr>
              <a:t>Secure by design, proven by tests</a:t>
            </a:r>
          </a:p>
        </p:txBody>
      </p:sp>
      <p:sp>
        <p:nvSpPr>
          <p:cNvPr id="3" name="Security lead 1"/>
          <p:cNvSpPr txBox="1"/>
          <p:nvPr/>
        </p:nvSpPr>
        <p:spPr>
          <a:xfrm>
            <a:off x="731520" y="1600200"/>
            <a:ext cx="1737360" cy="731520"/>
          </a:xfrm>
          <a:prstGeom prst="rect">
            <a:avLst/>
          </a:prstGeom>
          <a:noFill/>
        </p:spPr>
        <p:txBody>
          <a:bodyPr wrap="square" lIns="0" rIns="0" tIns="0" bIns="0" anchor="t">
            <a:spAutoFit/>
          </a:bodyPr>
          <a:lstStyle/>
          <a:p>
            <a:pPr algn="l"/>
            <a:r>
              <a:rPr sz="1600" b="1" i="0">
                <a:solidFill>
                  <a:srgbClr val="005596"/>
                </a:solidFill>
                <a:latin typeface="Calibri"/>
              </a:rPr>
              <a:t>Passwords</a:t>
            </a:r>
          </a:p>
        </p:txBody>
      </p:sp>
      <p:sp>
        <p:nvSpPr>
          <p:cNvPr id="4" name="Security text 1"/>
          <p:cNvSpPr txBox="1"/>
          <p:nvPr/>
        </p:nvSpPr>
        <p:spPr>
          <a:xfrm>
            <a:off x="2560320" y="1600200"/>
            <a:ext cx="4114800" cy="731520"/>
          </a:xfrm>
          <a:prstGeom prst="rect">
            <a:avLst/>
          </a:prstGeom>
          <a:noFill/>
        </p:spPr>
        <p:txBody>
          <a:bodyPr wrap="square" lIns="0" rIns="0" tIns="0" bIns="0" anchor="t">
            <a:spAutoFit/>
          </a:bodyPr>
          <a:lstStyle/>
          <a:p>
            <a:pPr algn="l"/>
            <a:r>
              <a:rPr sz="1400" b="0" i="0">
                <a:solidFill>
                  <a:srgbClr val="1B3550"/>
                </a:solidFill>
                <a:latin typeface="Calibri"/>
              </a:rPr>
              <a:t>scrypt hashes with a random salt for every user</a:t>
            </a:r>
          </a:p>
        </p:txBody>
      </p:sp>
      <p:sp>
        <p:nvSpPr>
          <p:cNvPr id="5" name="Security lead 2"/>
          <p:cNvSpPr txBox="1"/>
          <p:nvPr/>
        </p:nvSpPr>
        <p:spPr>
          <a:xfrm>
            <a:off x="731520" y="2478024"/>
            <a:ext cx="1737360" cy="731520"/>
          </a:xfrm>
          <a:prstGeom prst="rect">
            <a:avLst/>
          </a:prstGeom>
          <a:noFill/>
        </p:spPr>
        <p:txBody>
          <a:bodyPr wrap="square" lIns="0" rIns="0" tIns="0" bIns="0" anchor="t">
            <a:spAutoFit/>
          </a:bodyPr>
          <a:lstStyle/>
          <a:p>
            <a:pPr algn="l"/>
            <a:r>
              <a:rPr sz="1600" b="1" i="0">
                <a:solidFill>
                  <a:srgbClr val="005596"/>
                </a:solidFill>
                <a:latin typeface="Calibri"/>
              </a:rPr>
              <a:t>Sessions</a:t>
            </a:r>
          </a:p>
        </p:txBody>
      </p:sp>
      <p:sp>
        <p:nvSpPr>
          <p:cNvPr id="6" name="Security text 2"/>
          <p:cNvSpPr txBox="1"/>
          <p:nvPr/>
        </p:nvSpPr>
        <p:spPr>
          <a:xfrm>
            <a:off x="2560320" y="2478024"/>
            <a:ext cx="4114800" cy="731520"/>
          </a:xfrm>
          <a:prstGeom prst="rect">
            <a:avLst/>
          </a:prstGeom>
          <a:noFill/>
        </p:spPr>
        <p:txBody>
          <a:bodyPr wrap="square" lIns="0" rIns="0" tIns="0" bIns="0" anchor="t">
            <a:spAutoFit/>
          </a:bodyPr>
          <a:lstStyle/>
          <a:p>
            <a:pPr algn="l"/>
            <a:r>
              <a:rPr sz="1400" b="0" i="0">
                <a:solidFill>
                  <a:srgbClr val="1B3550"/>
                </a:solidFill>
                <a:latin typeface="Calibri"/>
              </a:rPr>
              <a:t>Random tokens in HttpOnly, SameSite cookies that expire after 8 hours</a:t>
            </a:r>
          </a:p>
        </p:txBody>
      </p:sp>
      <p:sp>
        <p:nvSpPr>
          <p:cNvPr id="7" name="Security lead 3"/>
          <p:cNvSpPr txBox="1"/>
          <p:nvPr/>
        </p:nvSpPr>
        <p:spPr>
          <a:xfrm>
            <a:off x="731520" y="3355848"/>
            <a:ext cx="1737360" cy="731520"/>
          </a:xfrm>
          <a:prstGeom prst="rect">
            <a:avLst/>
          </a:prstGeom>
          <a:noFill/>
        </p:spPr>
        <p:txBody>
          <a:bodyPr wrap="square" lIns="0" rIns="0" tIns="0" bIns="0" anchor="t">
            <a:spAutoFit/>
          </a:bodyPr>
          <a:lstStyle/>
          <a:p>
            <a:pPr algn="l"/>
            <a:r>
              <a:rPr sz="1600" b="1" i="0">
                <a:solidFill>
                  <a:srgbClr val="005596"/>
                </a:solidFill>
                <a:latin typeface="Calibri"/>
              </a:rPr>
              <a:t>Access control</a:t>
            </a:r>
          </a:p>
        </p:txBody>
      </p:sp>
      <p:sp>
        <p:nvSpPr>
          <p:cNvPr id="8" name="Security text 3"/>
          <p:cNvSpPr txBox="1"/>
          <p:nvPr/>
        </p:nvSpPr>
        <p:spPr>
          <a:xfrm>
            <a:off x="2560320" y="3355848"/>
            <a:ext cx="4114800" cy="731520"/>
          </a:xfrm>
          <a:prstGeom prst="rect">
            <a:avLst/>
          </a:prstGeom>
          <a:noFill/>
        </p:spPr>
        <p:txBody>
          <a:bodyPr wrap="square" lIns="0" rIns="0" tIns="0" bIns="0" anchor="t">
            <a:spAutoFit/>
          </a:bodyPr>
          <a:lstStyle/>
          <a:p>
            <a:pPr algn="l"/>
            <a:r>
              <a:rPr sz="1400" b="0" i="0">
                <a:solidFill>
                  <a:srgbClr val="1B3550"/>
                </a:solidFill>
                <a:latin typeface="Calibri"/>
              </a:rPr>
              <a:t>Roles and ownership are checked on the server; students see only their own bookings</a:t>
            </a:r>
          </a:p>
        </p:txBody>
      </p:sp>
      <p:sp>
        <p:nvSpPr>
          <p:cNvPr id="9" name="Security lead 4"/>
          <p:cNvSpPr txBox="1"/>
          <p:nvPr/>
        </p:nvSpPr>
        <p:spPr>
          <a:xfrm>
            <a:off x="731520" y="4233672"/>
            <a:ext cx="1737360" cy="731520"/>
          </a:xfrm>
          <a:prstGeom prst="rect">
            <a:avLst/>
          </a:prstGeom>
          <a:noFill/>
        </p:spPr>
        <p:txBody>
          <a:bodyPr wrap="square" lIns="0" rIns="0" tIns="0" bIns="0" anchor="t">
            <a:spAutoFit/>
          </a:bodyPr>
          <a:lstStyle/>
          <a:p>
            <a:pPr algn="l"/>
            <a:r>
              <a:rPr sz="1600" b="1" i="0">
                <a:solidFill>
                  <a:srgbClr val="005596"/>
                </a:solidFill>
                <a:latin typeface="Calibri"/>
              </a:rPr>
              <a:t>Data safety</a:t>
            </a:r>
          </a:p>
        </p:txBody>
      </p:sp>
      <p:sp>
        <p:nvSpPr>
          <p:cNvPr id="10" name="Security text 4"/>
          <p:cNvSpPr txBox="1"/>
          <p:nvPr/>
        </p:nvSpPr>
        <p:spPr>
          <a:xfrm>
            <a:off x="2560320" y="4233672"/>
            <a:ext cx="4114800" cy="731520"/>
          </a:xfrm>
          <a:prstGeom prst="rect">
            <a:avLst/>
          </a:prstGeom>
          <a:noFill/>
        </p:spPr>
        <p:txBody>
          <a:bodyPr wrap="square" lIns="0" rIns="0" tIns="0" bIns="0" anchor="t">
            <a:spAutoFit/>
          </a:bodyPr>
          <a:lstStyle/>
          <a:p>
            <a:pPr algn="l"/>
            <a:r>
              <a:rPr sz="1400" b="0" i="0">
                <a:solidFill>
                  <a:srgbClr val="1B3550"/>
                </a:solidFill>
                <a:latin typeface="Calibri"/>
              </a:rPr>
              <a:t>Parameterized SQL, escaped text, and CSV exports that neutralize formulas</a:t>
            </a:r>
          </a:p>
        </p:txBody>
      </p:sp>
      <p:sp>
        <p:nvSpPr>
          <p:cNvPr id="11" name="Security lead 5"/>
          <p:cNvSpPr txBox="1"/>
          <p:nvPr/>
        </p:nvSpPr>
        <p:spPr>
          <a:xfrm>
            <a:off x="731520" y="5111496"/>
            <a:ext cx="1737360" cy="731520"/>
          </a:xfrm>
          <a:prstGeom prst="rect">
            <a:avLst/>
          </a:prstGeom>
          <a:noFill/>
        </p:spPr>
        <p:txBody>
          <a:bodyPr wrap="square" lIns="0" rIns="0" tIns="0" bIns="0" anchor="t">
            <a:spAutoFit/>
          </a:bodyPr>
          <a:lstStyle/>
          <a:p>
            <a:pPr algn="l"/>
            <a:r>
              <a:rPr sz="1600" b="1" i="0">
                <a:solidFill>
                  <a:srgbClr val="005596"/>
                </a:solidFill>
                <a:latin typeface="Calibri"/>
              </a:rPr>
              <a:t>Browser limits</a:t>
            </a:r>
          </a:p>
        </p:txBody>
      </p:sp>
      <p:sp>
        <p:nvSpPr>
          <p:cNvPr id="12" name="Security text 5"/>
          <p:cNvSpPr txBox="1"/>
          <p:nvPr/>
        </p:nvSpPr>
        <p:spPr>
          <a:xfrm>
            <a:off x="2560320" y="5111496"/>
            <a:ext cx="4114800" cy="731520"/>
          </a:xfrm>
          <a:prstGeom prst="rect">
            <a:avLst/>
          </a:prstGeom>
          <a:noFill/>
        </p:spPr>
        <p:txBody>
          <a:bodyPr wrap="square" lIns="0" rIns="0" tIns="0" bIns="0" anchor="t">
            <a:spAutoFit/>
          </a:bodyPr>
          <a:lstStyle/>
          <a:p>
            <a:pPr algn="l"/>
            <a:r>
              <a:rPr sz="1400" b="0" i="0">
                <a:solidFill>
                  <a:srgbClr val="1B3550"/>
                </a:solidFill>
                <a:latin typeface="Calibri"/>
              </a:rPr>
              <a:t>Strict content security policy, blocked cross-origin writes, login rate limit</a:t>
            </a:r>
          </a:p>
        </p:txBody>
      </p:sp>
      <p:sp>
        <p:nvSpPr>
          <p:cNvPr id="13" name="Test card"/>
          <p:cNvSpPr/>
          <p:nvPr/>
        </p:nvSpPr>
        <p:spPr>
          <a:xfrm>
            <a:off x="7223760" y="1600200"/>
            <a:ext cx="4233672" cy="4389120"/>
          </a:xfrm>
          <a:prstGeom prst="roundRect">
            <a:avLst>
              <a:gd name="adj" fmla="val 5000"/>
            </a:avLst>
          </a:prstGeom>
          <a:solidFill>
            <a:srgbClr val="005596"/>
          </a:solidFill>
          <a:ln>
            <a:noFill/>
          </a:ln>
        </p:spPr>
        <p:txBody>
          <a:bodyPr rtlCol="0" anchor="ctr"/>
          <a:lstStyle/>
          <a:p>
            <a:pPr algn="ctr"/>
          </a:p>
        </p:txBody>
      </p:sp>
      <p:sp>
        <p:nvSpPr>
          <p:cNvPr id="14" name="Test count"/>
          <p:cNvSpPr txBox="1"/>
          <p:nvPr/>
        </p:nvSpPr>
        <p:spPr>
          <a:xfrm>
            <a:off x="7543800" y="1691640"/>
            <a:ext cx="3566160" cy="1280160"/>
          </a:xfrm>
          <a:prstGeom prst="rect">
            <a:avLst/>
          </a:prstGeom>
          <a:noFill/>
        </p:spPr>
        <p:txBody>
          <a:bodyPr wrap="square" lIns="0" rIns="0" tIns="0" bIns="0" anchor="ctr">
            <a:spAutoFit/>
          </a:bodyPr>
          <a:lstStyle/>
          <a:p>
            <a:pPr algn="l"/>
            <a:r>
              <a:rPr sz="8000" b="1" i="0">
                <a:solidFill>
                  <a:srgbClr val="E3B44C"/>
                </a:solidFill>
                <a:latin typeface="Cambria"/>
              </a:rPr>
              <a:t>37</a:t>
            </a:r>
          </a:p>
        </p:txBody>
      </p:sp>
      <p:sp>
        <p:nvSpPr>
          <p:cNvPr id="15" name="Test label"/>
          <p:cNvSpPr txBox="1"/>
          <p:nvPr/>
        </p:nvSpPr>
        <p:spPr>
          <a:xfrm>
            <a:off x="7543800" y="2971800"/>
            <a:ext cx="3566160" cy="411480"/>
          </a:xfrm>
          <a:prstGeom prst="rect">
            <a:avLst/>
          </a:prstGeom>
          <a:noFill/>
        </p:spPr>
        <p:txBody>
          <a:bodyPr wrap="square" lIns="0" rIns="0" tIns="0" bIns="0" anchor="t">
            <a:spAutoFit/>
          </a:bodyPr>
          <a:lstStyle/>
          <a:p>
            <a:pPr algn="l"/>
            <a:r>
              <a:rPr sz="1800" b="1" i="0">
                <a:solidFill>
                  <a:srgbClr val="FFFFFF"/>
                </a:solidFill>
                <a:latin typeface="Calibri"/>
              </a:rPr>
              <a:t>automated tests passing</a:t>
            </a:r>
          </a:p>
        </p:txBody>
      </p:sp>
      <p:sp>
        <p:nvSpPr>
          <p:cNvPr id="16" name="Test coverage"/>
          <p:cNvSpPr txBox="1"/>
          <p:nvPr/>
        </p:nvSpPr>
        <p:spPr>
          <a:xfrm>
            <a:off x="7543800" y="3474720"/>
            <a:ext cx="3611880" cy="1737360"/>
          </a:xfrm>
          <a:prstGeom prst="rect">
            <a:avLst/>
          </a:prstGeom>
          <a:noFill/>
        </p:spPr>
        <p:txBody>
          <a:bodyPr wrap="square" lIns="0" rIns="0" tIns="0" bIns="0" anchor="t">
            <a:spAutoFit/>
          </a:bodyPr>
          <a:lstStyle/>
          <a:p>
            <a:pPr algn="l" marL="228600" indent="-228600">
              <a:spcAft>
                <a:spcPts val="300"/>
              </a:spcAft>
              <a:buClr>
                <a:srgbClr val="E3B44C"/>
              </a:buClr>
              <a:buChar char="•"/>
            </a:pPr>
            <a:r>
              <a:rPr sz="1400" b="0" i="0">
                <a:solidFill>
                  <a:srgbClr val="FFFFFF"/>
                </a:solidFill>
                <a:latin typeface="Calibri"/>
              </a:rPr>
              <a:t>Overlaps, adjacency, simultaneous requests</a:t>
            </a:r>
          </a:p>
          <a:p>
            <a:pPr algn="l" marL="228600" indent="-228600">
              <a:spcAft>
                <a:spcPts val="300"/>
              </a:spcAft>
              <a:buClr>
                <a:srgbClr val="E3B44C"/>
              </a:buClr>
              <a:buChar char="•"/>
            </a:pPr>
            <a:r>
              <a:rPr sz="1400" b="0" i="0">
                <a:solidFill>
                  <a:srgbClr val="FFFFFF"/>
                </a:solidFill>
                <a:latin typeface="Calibri"/>
              </a:rPr>
              <a:t>Roles, ownership and privacy</a:t>
            </a:r>
          </a:p>
          <a:p>
            <a:pPr algn="l" marL="228600" indent="-228600">
              <a:spcAft>
                <a:spcPts val="300"/>
              </a:spcAft>
              <a:buClr>
                <a:srgbClr val="E3B44C"/>
              </a:buClr>
              <a:buChar char="•"/>
            </a:pPr>
            <a:r>
              <a:rPr sz="1400" b="0" i="0">
                <a:solidFill>
                  <a:srgbClr val="FFFFFF"/>
                </a:solidFill>
                <a:latin typeface="Calibri"/>
              </a:rPr>
              <a:t>Approval re-checks and audit history</a:t>
            </a:r>
          </a:p>
          <a:p>
            <a:pPr algn="l" marL="228600" indent="-228600">
              <a:spcAft>
                <a:spcPts val="300"/>
              </a:spcAft>
              <a:buClr>
                <a:srgbClr val="E3B44C"/>
              </a:buClr>
              <a:buChar char="•"/>
            </a:pPr>
            <a:r>
              <a:rPr sz="1400" b="0" i="0">
                <a:solidFill>
                  <a:srgbClr val="FFFFFF"/>
                </a:solidFill>
                <a:latin typeface="Calibri"/>
              </a:rPr>
              <a:t>Upgrades that keep older bookings</a:t>
            </a:r>
          </a:p>
          <a:p>
            <a:pPr algn="l" marL="228600" indent="-228600">
              <a:buClr>
                <a:srgbClr val="E3B44C"/>
              </a:buClr>
              <a:buChar char="•"/>
            </a:pPr>
            <a:r>
              <a:rPr sz="1400" b="0" i="0">
                <a:solidFill>
                  <a:srgbClr val="FFFFFF"/>
                </a:solidFill>
                <a:latin typeface="Calibri"/>
              </a:rPr>
              <a:t>CSV safety and access-tracking rules</a:t>
            </a:r>
          </a:p>
        </p:txBody>
      </p:sp>
      <p:sp>
        <p:nvSpPr>
          <p:cNvPr id="17" name="Test note"/>
          <p:cNvSpPr txBox="1"/>
          <p:nvPr/>
        </p:nvSpPr>
        <p:spPr>
          <a:xfrm>
            <a:off x="7543800" y="5349240"/>
            <a:ext cx="3566160" cy="502920"/>
          </a:xfrm>
          <a:prstGeom prst="rect">
            <a:avLst/>
          </a:prstGeom>
          <a:noFill/>
        </p:spPr>
        <p:txBody>
          <a:bodyPr wrap="square" lIns="0" rIns="0" tIns="0" bIns="0" anchor="t">
            <a:spAutoFit/>
          </a:bodyPr>
          <a:lstStyle/>
          <a:p>
            <a:pPr algn="l"/>
            <a:r>
              <a:rPr sz="1200" b="0" i="0">
                <a:solidFill>
                  <a:srgbClr val="CADCFC"/>
                </a:solidFill>
                <a:latin typeface="Calibri"/>
              </a:rPr>
              <a:t>Tests run on a temporary database, never your real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2A4A"/>
        </a:solidFill>
        <a:effectLst/>
      </p:bgPr>
    </p:bg>
    <p:spTree>
      <p:nvGrpSpPr>
        <p:cNvPr id="1" name=""/>
        <p:cNvGrpSpPr/>
        <p:nvPr/>
      </p:nvGrpSpPr>
      <p:grpSpPr/>
      <p:sp>
        <p:nvSpPr>
          <p:cNvPr id="2" name="Title"/>
          <p:cNvSpPr>
            <a:spLocks noGrp="1"/>
          </p:cNvSpPr>
          <p:nvPr>
            <p:ph type="title"/>
          </p:nvPr>
        </p:nvSpPr>
        <p:spPr>
          <a:xfrm>
            <a:off x="731520" y="457200"/>
            <a:ext cx="10698480" cy="822960"/>
          </a:xfrm>
        </p:spPr>
        <p:txBody>
          <a:bodyPr wrap="square" lIns="0" rIns="0" tIns="0" bIns="0" anchor="ctr"/>
          <a:lstStyle/>
          <a:p>
            <a:pPr algn="l"/>
            <a:r>
              <a:rPr sz="3400" b="1" i="0">
                <a:solidFill>
                  <a:srgbClr val="FFFFFF"/>
                </a:solidFill>
                <a:latin typeface="Cambria"/>
              </a:rPr>
              <a:t>Honest limits and what comes next</a:t>
            </a:r>
          </a:p>
        </p:txBody>
      </p:sp>
      <p:sp>
        <p:nvSpPr>
          <p:cNvPr id="3" name="Today card"/>
          <p:cNvSpPr/>
          <p:nvPr/>
        </p:nvSpPr>
        <p:spPr>
          <a:xfrm>
            <a:off x="731520" y="1600200"/>
            <a:ext cx="5239512" cy="3749039"/>
          </a:xfrm>
          <a:prstGeom prst="roundRect">
            <a:avLst>
              <a:gd name="adj" fmla="val 5000"/>
            </a:avLst>
          </a:prstGeom>
          <a:solidFill>
            <a:srgbClr val="123A66"/>
          </a:solidFill>
          <a:ln>
            <a:noFill/>
          </a:ln>
        </p:spPr>
        <p:txBody>
          <a:bodyPr rtlCol="0" anchor="ctr"/>
          <a:lstStyle/>
          <a:p>
            <a:pPr algn="ctr"/>
          </a:p>
        </p:txBody>
      </p:sp>
      <p:sp>
        <p:nvSpPr>
          <p:cNvPr id="4" name="Today list"/>
          <p:cNvSpPr txBox="1"/>
          <p:nvPr/>
        </p:nvSpPr>
        <p:spPr>
          <a:xfrm>
            <a:off x="1005840" y="1783080"/>
            <a:ext cx="4709160" cy="3429000"/>
          </a:xfrm>
          <a:prstGeom prst="rect">
            <a:avLst/>
          </a:prstGeom>
          <a:noFill/>
        </p:spPr>
        <p:txBody>
          <a:bodyPr wrap="square" lIns="0" rIns="0" tIns="0" bIns="0" anchor="t">
            <a:spAutoFit/>
          </a:bodyPr>
          <a:lstStyle/>
          <a:p>
            <a:pPr algn="l">
              <a:spcAft>
                <a:spcPts val="800"/>
              </a:spcAft>
            </a:pPr>
            <a:r>
              <a:rPr sz="1300" b="1" i="0" spc="150">
                <a:solidFill>
                  <a:srgbClr val="E3B44C"/>
                </a:solidFill>
                <a:latin typeface="Calibri"/>
              </a:rPr>
              <a:t>TODAY</a:t>
            </a:r>
          </a:p>
          <a:p>
            <a:pPr algn="l" marL="228600" indent="-228600">
              <a:spcAft>
                <a:spcPts val="600"/>
              </a:spcAft>
              <a:buClr>
                <a:srgbClr val="E3B44C"/>
              </a:buClr>
              <a:buChar char="•"/>
            </a:pPr>
            <a:r>
              <a:rPr sz="1600" b="0" i="0">
                <a:solidFill>
                  <a:srgbClr val="FFFFFF"/>
                </a:solidFill>
                <a:latin typeface="Calibri"/>
              </a:rPr>
              <a:t>Local academic prototype with fictional demo accounts</a:t>
            </a:r>
          </a:p>
          <a:p>
            <a:pPr algn="l" marL="228600" indent="-228600">
              <a:spcAft>
                <a:spcPts val="600"/>
              </a:spcAft>
              <a:buClr>
                <a:srgbClr val="E3B44C"/>
              </a:buClr>
              <a:buChar char="•"/>
            </a:pPr>
            <a:r>
              <a:rPr sz="1600" b="0" i="0">
                <a:solidFill>
                  <a:srgbClr val="FFFFFF"/>
                </a:solidFill>
                <a:latin typeface="Calibri"/>
              </a:rPr>
              <a:t>Room capacities and lab capabilities are unverified demo data</a:t>
            </a:r>
          </a:p>
          <a:p>
            <a:pPr algn="l" marL="228600" indent="-228600">
              <a:spcAft>
                <a:spcPts val="600"/>
              </a:spcAft>
              <a:buClr>
                <a:srgbClr val="E3B44C"/>
              </a:buClr>
              <a:buChar char="•"/>
            </a:pPr>
            <a:r>
              <a:rPr sz="1600" b="0" i="0">
                <a:solidFill>
                  <a:srgbClr val="FFFFFF"/>
                </a:solidFill>
                <a:latin typeface="Calibri"/>
              </a:rPr>
              <a:t>Student counts are requested headcounts, not attendance</a:t>
            </a:r>
          </a:p>
          <a:p>
            <a:pPr algn="l" marL="228600" indent="-228600">
              <a:spcAft>
                <a:spcPts val="600"/>
              </a:spcAft>
              <a:buClr>
                <a:srgbClr val="E3B44C"/>
              </a:buClr>
              <a:buChar char="•"/>
            </a:pPr>
            <a:r>
              <a:rPr sz="1600" b="0" i="0">
                <a:solidFill>
                  <a:srgbClr val="FFFFFF"/>
                </a:solidFill>
                <a:latin typeface="Calibri"/>
              </a:rPr>
              <a:t>No SSO, email notifications or recurring bookings</a:t>
            </a:r>
          </a:p>
          <a:p>
            <a:pPr algn="l" marL="228600" indent="-228600">
              <a:spcAft>
                <a:spcPts val="600"/>
              </a:spcAft>
              <a:buClr>
                <a:srgbClr val="E3B44C"/>
              </a:buClr>
              <a:buChar char="•"/>
            </a:pPr>
            <a:r>
              <a:rPr sz="1600" b="0" i="0">
                <a:solidFill>
                  <a:srgbClr val="FFFFFF"/>
                </a:solidFill>
                <a:latin typeface="Calibri"/>
              </a:rPr>
              <a:t>SQLite suits a demonstration, not campus-wide load</a:t>
            </a:r>
          </a:p>
        </p:txBody>
      </p:sp>
      <p:sp>
        <p:nvSpPr>
          <p:cNvPr id="5" name="Next card"/>
          <p:cNvSpPr/>
          <p:nvPr/>
        </p:nvSpPr>
        <p:spPr>
          <a:xfrm>
            <a:off x="6217920" y="1600200"/>
            <a:ext cx="5239512" cy="3749039"/>
          </a:xfrm>
          <a:prstGeom prst="roundRect">
            <a:avLst>
              <a:gd name="adj" fmla="val 5000"/>
            </a:avLst>
          </a:prstGeom>
          <a:solidFill>
            <a:srgbClr val="123A66"/>
          </a:solidFill>
          <a:ln>
            <a:noFill/>
          </a:ln>
        </p:spPr>
        <p:txBody>
          <a:bodyPr rtlCol="0" anchor="ctr"/>
          <a:lstStyle/>
          <a:p>
            <a:pPr algn="ctr"/>
          </a:p>
        </p:txBody>
      </p:sp>
      <p:sp>
        <p:nvSpPr>
          <p:cNvPr id="6" name="Next list"/>
          <p:cNvSpPr txBox="1"/>
          <p:nvPr/>
        </p:nvSpPr>
        <p:spPr>
          <a:xfrm>
            <a:off x="6492240" y="1783080"/>
            <a:ext cx="4709160" cy="3429000"/>
          </a:xfrm>
          <a:prstGeom prst="rect">
            <a:avLst/>
          </a:prstGeom>
          <a:noFill/>
        </p:spPr>
        <p:txBody>
          <a:bodyPr wrap="square" lIns="0" rIns="0" tIns="0" bIns="0" anchor="t">
            <a:spAutoFit/>
          </a:bodyPr>
          <a:lstStyle/>
          <a:p>
            <a:pPr algn="l">
              <a:spcAft>
                <a:spcPts val="800"/>
              </a:spcAft>
            </a:pPr>
            <a:r>
              <a:rPr sz="1300" b="1" i="0" spc="150">
                <a:solidFill>
                  <a:srgbClr val="E3B44C"/>
                </a:solidFill>
                <a:latin typeface="Calibri"/>
              </a:rPr>
              <a:t>NEXT</a:t>
            </a:r>
          </a:p>
          <a:p>
            <a:pPr algn="l" marL="228600" indent="-228600">
              <a:spcAft>
                <a:spcPts val="600"/>
              </a:spcAft>
              <a:buClr>
                <a:srgbClr val="E3B44C"/>
              </a:buClr>
              <a:buChar char="•"/>
            </a:pPr>
            <a:r>
              <a:rPr sz="1600" b="0" i="0">
                <a:solidFill>
                  <a:srgbClr val="FFFFFF"/>
                </a:solidFill>
                <a:latin typeface="Calibri"/>
              </a:rPr>
              <a:t>Department-confirmed room details and equipment links</a:t>
            </a:r>
          </a:p>
          <a:p>
            <a:pPr algn="l" marL="228600" indent="-228600">
              <a:spcAft>
                <a:spcPts val="600"/>
              </a:spcAft>
              <a:buClr>
                <a:srgbClr val="E3B44C"/>
              </a:buClr>
              <a:buChar char="•"/>
            </a:pPr>
            <a:r>
              <a:rPr sz="1600" b="0" i="0">
                <a:solidFill>
                  <a:srgbClr val="FFFFFF"/>
                </a:solidFill>
                <a:latin typeface="Calibri"/>
              </a:rPr>
              <a:t>SRM single sign-on and faculty accounts</a:t>
            </a:r>
          </a:p>
          <a:p>
            <a:pPr algn="l" marL="228600" indent="-228600">
              <a:spcAft>
                <a:spcPts val="600"/>
              </a:spcAft>
              <a:buClr>
                <a:srgbClr val="E3B44C"/>
              </a:buClr>
              <a:buChar char="•"/>
            </a:pPr>
            <a:r>
              <a:rPr sz="1600" b="0" i="0">
                <a:solidFill>
                  <a:srgbClr val="FFFFFF"/>
                </a:solidFill>
                <a:latin typeface="Calibri"/>
              </a:rPr>
              <a:t>Email or SMS notifications</a:t>
            </a:r>
          </a:p>
          <a:p>
            <a:pPr algn="l" marL="228600" indent="-228600">
              <a:spcAft>
                <a:spcPts val="600"/>
              </a:spcAft>
              <a:buClr>
                <a:srgbClr val="E3B44C"/>
              </a:buClr>
              <a:buChar char="•"/>
            </a:pPr>
            <a:r>
              <a:rPr sz="1600" b="0" i="0">
                <a:solidFill>
                  <a:srgbClr val="FFFFFF"/>
                </a:solidFill>
                <a:latin typeface="Calibri"/>
              </a:rPr>
              <a:t>Recurring class timetables</a:t>
            </a:r>
          </a:p>
          <a:p>
            <a:pPr algn="l" marL="228600" indent="-228600">
              <a:spcAft>
                <a:spcPts val="600"/>
              </a:spcAft>
              <a:buClr>
                <a:srgbClr val="E3B44C"/>
              </a:buClr>
              <a:buChar char="•"/>
            </a:pPr>
            <a:r>
              <a:rPr sz="1600" b="0" i="0">
                <a:solidFill>
                  <a:srgbClr val="FFFFFF"/>
                </a:solidFill>
                <a:latin typeface="Calibri"/>
              </a:rPr>
              <a:t>Check-in and attendance for real utilization</a:t>
            </a:r>
          </a:p>
        </p:txBody>
      </p:sp>
      <p:sp>
        <p:nvSpPr>
          <p:cNvPr id="7" name="Closing"/>
          <p:cNvSpPr txBox="1"/>
          <p:nvPr/>
        </p:nvSpPr>
        <p:spPr>
          <a:xfrm>
            <a:off x="731520" y="5623560"/>
            <a:ext cx="5943600" cy="548640"/>
          </a:xfrm>
          <a:prstGeom prst="rect">
            <a:avLst/>
          </a:prstGeom>
          <a:noFill/>
        </p:spPr>
        <p:txBody>
          <a:bodyPr wrap="square" lIns="0" rIns="0" tIns="0" bIns="0" anchor="ctr">
            <a:spAutoFit/>
          </a:bodyPr>
          <a:lstStyle/>
          <a:p>
            <a:pPr algn="l"/>
            <a:r>
              <a:rPr sz="3000" b="1" i="0">
                <a:solidFill>
                  <a:srgbClr val="E3B44C"/>
                </a:solidFill>
                <a:latin typeface="Cambria"/>
              </a:rPr>
              <a:t>Thank you · Questions?</a:t>
            </a:r>
          </a:p>
        </p:txBody>
      </p:sp>
      <p:sp>
        <p:nvSpPr>
          <p:cNvPr id="8" name="Repository"/>
          <p:cNvSpPr txBox="1"/>
          <p:nvPr/>
        </p:nvSpPr>
        <p:spPr>
          <a:xfrm>
            <a:off x="6949440" y="5623560"/>
            <a:ext cx="4507992" cy="548640"/>
          </a:xfrm>
          <a:prstGeom prst="rect">
            <a:avLst/>
          </a:prstGeom>
          <a:noFill/>
        </p:spPr>
        <p:txBody>
          <a:bodyPr wrap="square" lIns="0" rIns="0" tIns="0" bIns="0" anchor="ctr">
            <a:spAutoFit/>
          </a:bodyPr>
          <a:lstStyle/>
          <a:p>
            <a:pPr algn="r"/>
            <a:r>
              <a:rPr sz="1600" b="0" i="0">
                <a:solidFill>
                  <a:srgbClr val="CADCFC"/>
                </a:solidFill>
                <a:latin typeface="Calibri"/>
              </a:rPr>
              <a:t>github.com/ZeonArc/booking</a:t>
            </a:r>
          </a:p>
        </p:txBody>
      </p:sp>
    </p:spTree>
  </p:cSld>
  <p:clrMapOvr>
    <a:masterClrMapping/>
  </p:clrMapOvr>
</p:sld>
</file>

<file path=ppt/theme/theme1.xml><?xml version="1.0" encoding="utf-8"?>
<a:theme xmlns:a="http://schemas.openxmlformats.org/drawingml/2006/main" name="Office Theme">
  <a:themeElements>
    <a:clrScheme name="SRM LabReserve">
      <a:dk1>
        <a:sysClr val="windowText" lastClr="000000"/>
      </a:dk1>
      <a:lt1>
        <a:sysClr val="window" lastClr="FFFFFF"/>
      </a:lt1>
      <a:dk2>
        <a:srgbClr val="0A2A4A"/>
      </a:dk2>
      <a:lt2>
        <a:srgbClr val="EEF3FA"/>
      </a:lt2>
      <a:accent1>
        <a:srgbClr val="005596"/>
      </a:accent1>
      <a:accent2>
        <a:srgbClr val="E3B44C"/>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SRM LabReserve">
      <a:dk1>
        <a:sysClr val="windowText" lastClr="000000"/>
      </a:dk1>
      <a:lt1>
        <a:sysClr val="window" lastClr="FFFFFF"/>
      </a:lt1>
      <a:dk2>
        <a:srgbClr val="0A2A4A"/>
      </a:dk2>
      <a:lt2>
        <a:srgbClr val="EEF3FA"/>
      </a:lt2>
      <a:accent1>
        <a:srgbClr val="005596"/>
      </a:accent1>
      <a:accent2>
        <a:srgbClr val="E3B44C"/>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LabReserve</dc:title>
  <dc:subject>Lab room and equipment booking for SRM Trichy</dc:subject>
  <dc:creator>Harish V</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